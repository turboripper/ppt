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Layouts/p1_slideLayout1.xml" ContentType="application/vnd.openxmlformats-officedocument.presentationml.slideLayout+xml"/>
  <Override PartName="/ppt/slideLayouts/p1_slideLayout2.xml" ContentType="application/vnd.openxmlformats-officedocument.presentationml.slideLayout+xml"/>
  <Override PartName="/ppt/slideLayouts/p1_slideLayout3.xml" ContentType="application/vnd.openxmlformats-officedocument.presentationml.slideLayout+xml"/>
  <Override PartName="/ppt/slideLayouts/p1_slideLayout4.xml" ContentType="application/vnd.openxmlformats-officedocument.presentationml.slideLayout+xml"/>
  <Override PartName="/ppt/slideLayouts/p1_slideLayout5.xml" ContentType="application/vnd.openxmlformats-officedocument.presentationml.slideLayout+xml"/>
  <Override PartName="/ppt/slideLayouts/p1_slideLayout6.xml" ContentType="application/vnd.openxmlformats-officedocument.presentationml.slideLayout+xml"/>
  <Override PartName="/ppt/slideLayouts/p1_slideLayout7.xml" ContentType="application/vnd.openxmlformats-officedocument.presentationml.slideLayout+xml"/>
  <Override PartName="/ppt/slideLayouts/p1_slideLayout8.xml" ContentType="application/vnd.openxmlformats-officedocument.presentationml.slideLayout+xml"/>
  <Override PartName="/ppt/slideLayouts/p1_slideLayout9.xml" ContentType="application/vnd.openxmlformats-officedocument.presentationml.slideLayout+xml"/>
  <Override PartName="/ppt/slideLayouts/p1_slideLayout10.xml" ContentType="application/vnd.openxmlformats-officedocument.presentationml.slideLayout+xml"/>
  <Override PartName="/ppt/slideLayouts/p1_slideLayout11.xml" ContentType="application/vnd.openxmlformats-officedocument.presentationml.slideLayout+xml"/>
  <Override PartName="/ppt/slideLayouts/p1_slideLayout12.xml" ContentType="application/vnd.openxmlformats-officedocument.presentationml.slideLayout+xml"/>
  <Override PartName="/ppt/slideLayouts/p1_slideLayout13.xml" ContentType="application/vnd.openxmlformats-officedocument.presentationml.slideLayout+xml"/>
  <Override PartName="/ppt/slideMasters/p1_slideMaster1.xml" ContentType="application/vnd.openxmlformats-officedocument.presentationml.slideMaster+xml"/>
  <Override PartName="/ppt/theme/p1_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Default Extension="jpg" ContentType="image/jpeg"/>
  <Default Extension="svg" ContentType="image/svg+xml"/>
  <Default Extension="emf" ContentType="image/x-emf"/>
  <Default Extension="wmf" ContentType="image/x-w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1" r:id="rId15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1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4" Type="http://schemas.openxmlformats.org/officeDocument/2006/relationships/tableStyles" Target="tableStyles.xml"/><Relationship Id="rId15" Type="http://schemas.openxmlformats.org/officeDocument/2006/relationships/slideMaster" Target="slideMasters/p1_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/Relationships>
</file>

<file path=ppt/slideLayouts/_rels/p1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p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p1_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p1_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p1_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p1_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p1_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p1_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p1_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p1_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p1_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p1_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p1_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p1_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p1_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p1_slideLayout8.xml"/><Relationship Id="rId13" Type="http://schemas.openxmlformats.org/officeDocument/2006/relationships/slideLayout" Target="../slideLayouts/p1_slideLayout13.xml"/><Relationship Id="rId18" Type="http://schemas.openxmlformats.org/officeDocument/2006/relationships/image" Target="../media/p1_image3.png"/><Relationship Id="rId3" Type="http://schemas.openxmlformats.org/officeDocument/2006/relationships/slideLayout" Target="../slideLayouts/p1_slideLayout3.xml"/><Relationship Id="rId7" Type="http://schemas.openxmlformats.org/officeDocument/2006/relationships/slideLayout" Target="../slideLayouts/p1_slideLayout7.xml"/><Relationship Id="rId12" Type="http://schemas.openxmlformats.org/officeDocument/2006/relationships/slideLayout" Target="../slideLayouts/p1_slideLayout12.xml"/><Relationship Id="rId17" Type="http://schemas.microsoft.com/office/2007/relationships/hdphoto" Target="../media/p1_hdphoto1.wdp"/><Relationship Id="rId2" Type="http://schemas.openxmlformats.org/officeDocument/2006/relationships/slideLayout" Target="../slideLayouts/p1_slideLayout2.xml"/><Relationship Id="rId16" Type="http://schemas.openxmlformats.org/officeDocument/2006/relationships/image" Target="../media/p1_image2.png"/><Relationship Id="rId1" Type="http://schemas.openxmlformats.org/officeDocument/2006/relationships/slideLayout" Target="../slideLayouts/p1_slideLayout1.xml"/><Relationship Id="rId6" Type="http://schemas.openxmlformats.org/officeDocument/2006/relationships/slideLayout" Target="../slideLayouts/p1_slideLayout6.xml"/><Relationship Id="rId11" Type="http://schemas.openxmlformats.org/officeDocument/2006/relationships/slideLayout" Target="../slideLayouts/p1_slideLayout11.xml"/><Relationship Id="rId5" Type="http://schemas.openxmlformats.org/officeDocument/2006/relationships/slideLayout" Target="../slideLayouts/p1_slideLayout5.xml"/><Relationship Id="rId15" Type="http://schemas.openxmlformats.org/officeDocument/2006/relationships/image" Target="../media/p1_image1.png"/><Relationship Id="rId10" Type="http://schemas.openxmlformats.org/officeDocument/2006/relationships/slideLayout" Target="../slideLayouts/p1_slideLayout10.xml"/><Relationship Id="rId19" Type="http://schemas.microsoft.com/office/2007/relationships/hdphoto" Target="../media/p1_hdphoto2.wdp"/><Relationship Id="rId4" Type="http://schemas.openxmlformats.org/officeDocument/2006/relationships/slideLayout" Target="../slideLayouts/p1_slideLayout4.xml"/><Relationship Id="rId9" Type="http://schemas.openxmlformats.org/officeDocument/2006/relationships/slideLayout" Target="../slideLayouts/p1_slideLayout9.xml"/><Relationship Id="rId14" Type="http://schemas.openxmlformats.org/officeDocument/2006/relationships/theme" Target="../theme/p1_theme1.xml"/></Relationships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p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p1_image5.png"/><Relationship Id="rId2" Type="http://schemas.openxmlformats.org/officeDocument/2006/relationships/image" Target="../media/p1_image4.png"/><Relationship Id="rId1" Type="http://schemas.openxmlformats.org/officeDocument/2006/relationships/slideLayout" Target="../slideLayouts/p1_slideLayout12.xml"/><Relationship Id="rId4" Type="http://schemas.microsoft.com/office/2007/relationships/hdphoto" Target="../media/p1_hdphoto3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6.png"/><Relationship Id="rId1" Type="http://schemas.openxmlformats.org/officeDocument/2006/relationships/slideLayout" Target="../slideLayouts/p1_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7.png"/><Relationship Id="rId1" Type="http://schemas.openxmlformats.org/officeDocument/2006/relationships/slideLayout" Target="../slideLayouts/p1_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p1_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p1_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p1_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p1_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p1_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p1_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p1_image8.png"/><Relationship Id="rId1" Type="http://schemas.openxmlformats.org/officeDocument/2006/relationships/slideLayout" Target="../slideLayouts/p1_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96372" y="1692417"/>
            <a:ext cx="11428184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lvl="0" algn="ctr">
              <a:buClr>
                <a:srgbClr val="000000"/>
              </a:buClr>
              <a:buSzPts val="3600"/>
            </a:pPr>
            <a:r>
              <a:rPr lang="en-GB" sz="36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Authority-Aware and Evidence-Verified Retrieval-Augmented Generation for Reliable Legal Research over Indian Judicial Judgments</a:t>
            </a:r>
            <a:endParaRPr lang="en-GB" sz="54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buClr>
                <a:srgbClr val="000000"/>
              </a:buClr>
              <a:buSzPts val="2400"/>
            </a:pPr>
            <a:r>
              <a:rPr lang="de-DE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T9969</a:t>
            </a:r>
            <a:endParaRPr lang="de-D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Clr>
                <a:srgbClr val="000000"/>
              </a:buClr>
              <a:buSzPts val="2400"/>
            </a:pPr>
            <a:r>
              <a:rPr lang="de-DE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THARUNEESH G K (251011017)</a:t>
            </a:r>
          </a:p>
          <a:p>
            <a:pPr algn="ctr">
              <a:buClr>
                <a:srgbClr val="000000"/>
              </a:buClr>
              <a:buSzPts val="2400"/>
            </a:pPr>
            <a:r>
              <a:rPr lang="en-US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REC (2025-2027)</a:t>
            </a:r>
          </a:p>
          <a:p>
            <a:pPr lvl="0" algn="ctr">
              <a:buClr>
                <a:srgbClr val="000000"/>
              </a:buClr>
              <a:buSzPts val="2400"/>
            </a:pPr>
            <a:endParaRPr lang="de-DE" sz="2400" b="1" dirty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96318"/>
            <a:ext cx="10624338" cy="414298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sz="2400" b="0" dirty="0">
                <a:solidFill>
                  <a:srgbClr val="5583D1"/>
                </a:solidFill>
              </a:rPr>
              <a:t>Legal research is time-consuming because judicial judgments are lengthy and complex.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b="0" dirty="0">
                <a:solidFill>
                  <a:srgbClr val="5583D1"/>
                </a:solidFill>
              </a:rPr>
              <a:t>Retrieval-Augmented Generation (RAG) helps retrieve relevant legal information efficiently.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b="0" dirty="0">
                <a:solidFill>
                  <a:srgbClr val="5583D1"/>
                </a:solidFill>
              </a:rPr>
              <a:t>Traditional legal RAG may retrieve less authoritative evidence or produce unsupported claims.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b="0" dirty="0">
                <a:solidFill>
                  <a:srgbClr val="5583D1"/>
                </a:solidFill>
              </a:rPr>
              <a:t>LEX-RAG improves reliability using authority-aware ranking and claim-level evidence verification.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3255"/>
            <a:ext cx="10624338" cy="4142989"/>
          </a:xfrm>
        </p:spPr>
        <p:txBody>
          <a:bodyPr/>
          <a:lstStyle/>
          <a:p>
            <a:pPr lvl="0"/>
            <a:r>
              <a:rPr lang="en-IN" sz="2400" b="0" dirty="0"/>
              <a:t>Develop an AI-based legal research system for Indian judicial judgments.</a:t>
            </a:r>
          </a:p>
          <a:p>
            <a:pPr lvl="0"/>
            <a:r>
              <a:rPr lang="en-IN" sz="2400" b="0" dirty="0"/>
              <a:t>Retrieve relevant legal evidence using hybrid retrieval techniques.</a:t>
            </a:r>
          </a:p>
          <a:p>
            <a:pPr lvl="0"/>
            <a:r>
              <a:rPr lang="en-IN" sz="2400" b="0" dirty="0"/>
              <a:t>Improve evidence ranking using legal authority information.</a:t>
            </a:r>
          </a:p>
          <a:p>
            <a:pPr lvl="0"/>
            <a:r>
              <a:rPr lang="en-IN" sz="2400" b="0" dirty="0"/>
              <a:t>Verify legal statements using claim-level NLI verification.</a:t>
            </a:r>
          </a:p>
          <a:p>
            <a:pPr lvl="0"/>
            <a:r>
              <a:rPr lang="en-IN" sz="2400" b="0" dirty="0"/>
              <a:t>Improve the grounding and reliability of retrieved legal information.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algn="just"/>
            <a:r>
              <a:rPr lang="en-US" sz="2800" dirty="0">
                <a:solidFill>
                  <a:srgbClr val="1C3898"/>
                </a:solidFill>
                <a:latin typeface="+mj-lt"/>
              </a:rPr>
              <a:t>Dataset Processing Module</a:t>
            </a:r>
          </a:p>
          <a:p>
            <a:pPr lvl="1" algn="just"/>
            <a:r>
              <a:rPr lang="en-US" sz="2800" dirty="0">
                <a:solidFill>
                  <a:srgbClr val="1C3898"/>
                </a:solidFill>
                <a:latin typeface="+mj-lt"/>
              </a:rPr>
              <a:t>Hybrid Retrieval Module</a:t>
            </a:r>
          </a:p>
          <a:p>
            <a:pPr lvl="1" algn="just"/>
            <a:r>
              <a:rPr lang="en-US" sz="2800" dirty="0">
                <a:solidFill>
                  <a:srgbClr val="1C3898"/>
                </a:solidFill>
                <a:latin typeface="+mj-lt"/>
              </a:rPr>
              <a:t>Evidence Reranking Module</a:t>
            </a:r>
          </a:p>
          <a:p>
            <a:pPr lvl="1" algn="just"/>
            <a:r>
              <a:rPr lang="en-US" sz="2800" dirty="0">
                <a:solidFill>
                  <a:srgbClr val="1C3898"/>
                </a:solidFill>
                <a:latin typeface="+mj-lt"/>
              </a:rPr>
              <a:t>Authority-Aware Ranking Module</a:t>
            </a:r>
          </a:p>
          <a:p>
            <a:pPr lvl="1" algn="just"/>
            <a:r>
              <a:rPr lang="en-US" sz="2800" dirty="0">
                <a:solidFill>
                  <a:srgbClr val="1C3898"/>
                </a:solidFill>
                <a:latin typeface="+mj-lt"/>
              </a:rPr>
              <a:t>Evidence Extraction Module</a:t>
            </a:r>
          </a:p>
          <a:p>
            <a:pPr lvl="1" algn="just"/>
            <a:r>
              <a:rPr lang="en-US" sz="2800" dirty="0">
                <a:solidFill>
                  <a:srgbClr val="1C3898"/>
                </a:solidFill>
                <a:latin typeface="+mj-lt"/>
              </a:rPr>
              <a:t>Claim Verification Module</a:t>
            </a:r>
          </a:p>
          <a:p>
            <a:pPr lvl="1" algn="just"/>
            <a:r>
              <a:rPr lang="en-US" sz="2800" dirty="0">
                <a:solidFill>
                  <a:srgbClr val="1C3898"/>
                </a:solidFill>
                <a:latin typeface="+mj-lt"/>
              </a:rPr>
              <a:t>Evaluation &amp; Comparison Module</a:t>
            </a:r>
          </a:p>
          <a:p>
            <a:pPr lvl="1" algn="just"/>
            <a:r>
              <a:rPr lang="en-US" sz="2800" dirty="0">
                <a:solidFill>
                  <a:srgbClr val="1C3898"/>
                </a:solidFill>
                <a:latin typeface="+mj-lt"/>
              </a:rPr>
              <a:t>User Interface 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Data Preparation: </a:t>
            </a:r>
            <a:r>
              <a:rPr lang="en-IN" b="0" dirty="0"/>
              <a:t>Load and preprocess Indian judicial judgment text.</a:t>
            </a:r>
          </a:p>
          <a:p>
            <a:pPr lvl="0"/>
            <a:r>
              <a:rPr lang="en-IN" dirty="0"/>
              <a:t>Hybrid Retrieval: </a:t>
            </a:r>
            <a:r>
              <a:rPr lang="en-IN" b="0" dirty="0"/>
              <a:t>Retrieve relevant evidence using BM25 + semantic retrieval.</a:t>
            </a:r>
          </a:p>
          <a:p>
            <a:pPr lvl="0"/>
            <a:r>
              <a:rPr lang="en-IN" dirty="0"/>
              <a:t>Rank Fusion: </a:t>
            </a:r>
            <a:r>
              <a:rPr lang="en-IN" b="0" dirty="0"/>
              <a:t>Combine retrieval results using Reciprocal Rank Fusion (RRF).</a:t>
            </a:r>
          </a:p>
          <a:p>
            <a:pPr lvl="0"/>
            <a:r>
              <a:rPr lang="en-IN" dirty="0"/>
              <a:t>Evidence Reranking: </a:t>
            </a:r>
            <a:r>
              <a:rPr lang="en-IN" b="0" dirty="0"/>
              <a:t>Improve relevance using a neural reranking model.</a:t>
            </a:r>
          </a:p>
          <a:p>
            <a:pPr lvl="0"/>
            <a:r>
              <a:rPr lang="en-IN" dirty="0"/>
              <a:t>Authority-Aware Ranking: </a:t>
            </a:r>
            <a:r>
              <a:rPr lang="en-IN" b="0" dirty="0"/>
              <a:t>Rank evidence using relevance + court authority.</a:t>
            </a:r>
          </a:p>
          <a:p>
            <a:pPr lvl="0"/>
            <a:r>
              <a:rPr lang="en-IN" dirty="0"/>
              <a:t>Claim Verification: </a:t>
            </a:r>
            <a:r>
              <a:rPr lang="en-IN" b="0" dirty="0"/>
              <a:t>Verify legal statements using NLI-based evidence checking.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Dataset Loading: </a:t>
            </a:r>
            <a:r>
              <a:rPr lang="en-GB" sz="2400" b="0" dirty="0">
                <a:solidFill>
                  <a:srgbClr val="5583D1"/>
                </a:solidFill>
              </a:rPr>
              <a:t>Load the Indian Legal judgment dataset.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Text Cleaning: </a:t>
            </a:r>
            <a:r>
              <a:rPr lang="en-GB" sz="2400" b="0" dirty="0">
                <a:solidFill>
                  <a:srgbClr val="5583D1"/>
                </a:solidFill>
              </a:rPr>
              <a:t>Remove unnecessary spaces, symbols, and formatting noise.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Text Chunking: </a:t>
            </a:r>
            <a:r>
              <a:rPr lang="en-GB" sz="2400" b="0" dirty="0">
                <a:solidFill>
                  <a:srgbClr val="5583D1"/>
                </a:solidFill>
              </a:rPr>
              <a:t>Split long judgments into smaller searchable passages.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Duplicate Handling: </a:t>
            </a:r>
            <a:r>
              <a:rPr lang="en-GB" sz="2400" b="0" dirty="0">
                <a:solidFill>
                  <a:srgbClr val="5583D1"/>
                </a:solidFill>
              </a:rPr>
              <a:t>Remove duplicate or repeated text where applicable.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Dataset Analysis: </a:t>
            </a:r>
            <a:r>
              <a:rPr lang="en-GB" sz="2400" b="0" dirty="0" err="1">
                <a:solidFill>
                  <a:srgbClr val="5583D1"/>
                </a:solidFill>
              </a:rPr>
              <a:t>Analyze</a:t>
            </a:r>
            <a:r>
              <a:rPr lang="en-GB" sz="2400" b="0" dirty="0">
                <a:solidFill>
                  <a:srgbClr val="5583D1"/>
                </a:solidFill>
              </a:rPr>
              <a:t> the number and length of legal documents/chunks.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Quality Check: </a:t>
            </a:r>
            <a:r>
              <a:rPr lang="en-GB" sz="2400" b="0" dirty="0">
                <a:solidFill>
                  <a:srgbClr val="5583D1"/>
                </a:solidFill>
              </a:rPr>
              <a:t>Identify missing, short, or noisy judgment text.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Sparse Retrieval: </a:t>
            </a:r>
            <a:r>
              <a:rPr lang="en-US" sz="2400" b="0" dirty="0">
                <a:solidFill>
                  <a:srgbClr val="5583D1"/>
                </a:solidFill>
              </a:rPr>
              <a:t>BM25 for keyword-based legal evidence retrieval.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Semantic Retrieval: </a:t>
            </a:r>
            <a:r>
              <a:rPr lang="en-US" sz="2400" b="0" dirty="0">
                <a:solidFill>
                  <a:srgbClr val="5583D1"/>
                </a:solidFill>
              </a:rPr>
              <a:t>Sentence Transformer for meaning-based retrieval.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Rank Fusion: </a:t>
            </a:r>
            <a:r>
              <a:rPr lang="en-US" sz="2400" b="0" dirty="0">
                <a:solidFill>
                  <a:srgbClr val="5583D1"/>
                </a:solidFill>
              </a:rPr>
              <a:t>Reciprocal Rank Fusion (RRF) to combine retrieval results.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Neural Reranking: </a:t>
            </a:r>
            <a:r>
              <a:rPr lang="en-US" sz="2400" b="0" dirty="0">
                <a:solidFill>
                  <a:srgbClr val="5583D1"/>
                </a:solidFill>
              </a:rPr>
              <a:t>Cross-Encoder to improve evidence relevance.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Authority Ranking: </a:t>
            </a:r>
            <a:r>
              <a:rPr lang="en-US" sz="2400" b="0" dirty="0">
                <a:solidFill>
                  <a:srgbClr val="5583D1"/>
                </a:solidFill>
              </a:rPr>
              <a:t>Court authority + relevance score for evidence prioritization.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Claim Verification: </a:t>
            </a:r>
            <a:r>
              <a:rPr lang="en-US" sz="2400" b="0" dirty="0" err="1">
                <a:solidFill>
                  <a:srgbClr val="5583D1"/>
                </a:solidFill>
              </a:rPr>
              <a:t>DeBERTa</a:t>
            </a:r>
            <a:r>
              <a:rPr lang="en-US" sz="2400" b="0" dirty="0">
                <a:solidFill>
                  <a:srgbClr val="5583D1"/>
                </a:solidFill>
              </a:rPr>
              <a:t> NLI for Entailment, Neutral, and Contradiction checking.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Tools: </a:t>
            </a:r>
            <a:r>
              <a:rPr lang="en-US" sz="2400" b="0" dirty="0">
                <a:solidFill>
                  <a:srgbClr val="5583D1"/>
                </a:solidFill>
              </a:rPr>
              <a:t>Python, Flask, Hugging Face, Scikit-learn, Git/GitHub.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Literature Survey &amp; Research Gap – Completed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Dataset Collection &amp; Preprocessing – Completed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Hybrid Legal Evidence Retrieval – Completed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RRF &amp; Neural Reranking – Completed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Authority-Aware Ranking – Completed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NLI Claim Verification – Completed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Baseline vs Proposed System Evaluation – In Progress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Final Testing &amp; Documentation – In Progress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F0B65C-E8B7-8BF0-A18E-63737D580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74" y="1234637"/>
            <a:ext cx="11232630" cy="449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96372" y="1692417"/>
            <a:ext cx="1142818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CreditAgent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AI: Agentic AI For Credit Risk Assessment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buClr>
                <a:srgbClr val="000000"/>
              </a:buClr>
              <a:buSzPts val="2400"/>
            </a:pPr>
            <a:r>
              <a:rPr lang="de-DE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T9969</a:t>
            </a:r>
            <a:endParaRPr lang="de-DE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Clr>
                <a:srgbClr val="000000"/>
              </a:buClr>
              <a:buSzPts val="2400"/>
            </a:pPr>
            <a:r>
              <a:rPr lang="de-DE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THARUNEESH G K (251011017)</a:t>
            </a:r>
          </a:p>
          <a:p>
            <a:pPr algn="ctr">
              <a:buClr>
                <a:srgbClr val="000000"/>
              </a:buClr>
              <a:buSzPts val="2400"/>
            </a:pPr>
            <a:r>
              <a:rPr lang="en-US" sz="2400" b="1" dirty="0">
                <a:solidFill>
                  <a:srgbClr val="FFFFFF"/>
                </a:solidFill>
                <a:ea typeface="Calibri"/>
                <a:cs typeface="Calibri"/>
                <a:sym typeface="Calibri"/>
              </a:rPr>
              <a:t>REC (2025-2027)</a:t>
            </a:r>
          </a:p>
          <a:p>
            <a:pPr lvl="0" algn="ctr">
              <a:buClr>
                <a:srgbClr val="000000"/>
              </a:buClr>
              <a:buSzPts val="2400"/>
            </a:pPr>
            <a:endParaRPr lang="de-DE" sz="2400" b="1" dirty="0">
              <a:solidFill>
                <a:srgbClr val="FFFFFF"/>
              </a:solidFill>
              <a:ea typeface="Calibri"/>
              <a:cs typeface="Calibri"/>
              <a:sym typeface="Calibri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96318"/>
            <a:ext cx="10624338" cy="4142989"/>
          </a:xfrm>
        </p:spPr>
        <p:txBody>
          <a:bodyPr/>
          <a:lstStyle/>
          <a:p>
            <a:pPr algn="just"/>
            <a:r>
              <a:rPr lang="en-IN" sz="2400" b="0" dirty="0">
                <a:latin typeface="+mn-lt"/>
              </a:rPr>
              <a:t>Predicts Good or Bad Credit Risk using customer credit data.</a:t>
            </a:r>
          </a:p>
          <a:p>
            <a:pPr algn="just"/>
            <a:r>
              <a:rPr lang="en-IN" sz="2400" b="0" dirty="0">
                <a:latin typeface="+mn-lt"/>
              </a:rPr>
              <a:t>Compares Logistic Regression, Random Forest, and Gradient Boosting.</a:t>
            </a:r>
          </a:p>
          <a:p>
            <a:pPr algn="just"/>
            <a:r>
              <a:rPr lang="en-IN" sz="2400" b="0" dirty="0">
                <a:latin typeface="+mn-lt"/>
              </a:rPr>
              <a:t>Uses </a:t>
            </a:r>
            <a:r>
              <a:rPr lang="en-IN" sz="2400" b="0" dirty="0" err="1">
                <a:latin typeface="+mn-lt"/>
              </a:rPr>
              <a:t>LangGraph</a:t>
            </a:r>
            <a:r>
              <a:rPr lang="en-IN" sz="2400" b="0" dirty="0">
                <a:latin typeface="+mn-lt"/>
              </a:rPr>
              <a:t> agents for prediction, explanation, and human decision support.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8E346E-26C3-193D-3E9C-9C5ED17AD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720" y="3033098"/>
            <a:ext cx="7907703" cy="288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50084" y="4283960"/>
            <a:ext cx="10624338" cy="41429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Predict credit risk using customer financial and credit information.</a:t>
            </a:r>
          </a:p>
          <a:p>
            <a:pPr algn="just">
              <a:lnSpc>
                <a:spcPct val="150000"/>
              </a:lnSpc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Compare multiple ML models and select the best-performing model.</a:t>
            </a:r>
          </a:p>
          <a:p>
            <a:pPr algn="just">
              <a:lnSpc>
                <a:spcPct val="150000"/>
              </a:lnSpc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Use </a:t>
            </a:r>
            <a:r>
              <a:rPr lang="en-GB" sz="2400" b="0" dirty="0" err="1">
                <a:solidFill>
                  <a:srgbClr val="5583D1"/>
                </a:solidFill>
                <a:latin typeface="+mn-lt"/>
              </a:rPr>
              <a:t>LangGraph</a:t>
            </a:r>
            <a:r>
              <a:rPr lang="en-GB" sz="2400" b="0" dirty="0">
                <a:solidFill>
                  <a:srgbClr val="5583D1"/>
                </a:solidFill>
                <a:latin typeface="+mn-lt"/>
              </a:rPr>
              <a:t>-based agents for prediction, explanation, and decision support.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8458D8-0122-4EBF-4FAB-3DADBF453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644" y="1191756"/>
            <a:ext cx="7890497" cy="322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algn="just"/>
            <a:r>
              <a:rPr lang="en-GB" sz="2800" dirty="0">
                <a:solidFill>
                  <a:srgbClr val="1C3898"/>
                </a:solidFill>
              </a:rPr>
              <a:t>Data Validation Module </a:t>
            </a:r>
            <a:r>
              <a:rPr lang="en-GB" dirty="0">
                <a:solidFill>
                  <a:srgbClr val="1C3898"/>
                </a:solidFill>
              </a:rPr>
              <a:t>– Checks and validates customer credit inputs.</a:t>
            </a:r>
          </a:p>
          <a:p>
            <a:pPr lvl="1" algn="just"/>
            <a:r>
              <a:rPr lang="en-GB" sz="2800" dirty="0">
                <a:solidFill>
                  <a:srgbClr val="1C3898"/>
                </a:solidFill>
              </a:rPr>
              <a:t>Preprocessing Module </a:t>
            </a:r>
            <a:r>
              <a:rPr lang="en-GB" dirty="0">
                <a:solidFill>
                  <a:srgbClr val="1C3898"/>
                </a:solidFill>
              </a:rPr>
              <a:t>– Converts customer data into model-ready format.   </a:t>
            </a:r>
          </a:p>
          <a:p>
            <a:pPr lvl="1" algn="just"/>
            <a:r>
              <a:rPr lang="en-GB" sz="2800" dirty="0">
                <a:solidFill>
                  <a:srgbClr val="1C3898"/>
                </a:solidFill>
              </a:rPr>
              <a:t>Credit Risk Prediction Module </a:t>
            </a:r>
            <a:r>
              <a:rPr lang="en-GB" dirty="0">
                <a:solidFill>
                  <a:srgbClr val="1C3898"/>
                </a:solidFill>
              </a:rPr>
              <a:t>– Predicts Higher Risk or Lower Risk using the selected ML model.</a:t>
            </a:r>
          </a:p>
          <a:p>
            <a:pPr lvl="1" algn="just"/>
            <a:r>
              <a:rPr lang="en-GB" sz="2800" dirty="0">
                <a:solidFill>
                  <a:srgbClr val="1C3898"/>
                </a:solidFill>
              </a:rPr>
              <a:t>Cost Analysis Module </a:t>
            </a:r>
            <a:r>
              <a:rPr lang="en-GB" dirty="0">
                <a:solidFill>
                  <a:srgbClr val="1C3898"/>
                </a:solidFill>
              </a:rPr>
              <a:t>– Applies the 5:1 cost rule for missed bad-risk cases versus false alerts.</a:t>
            </a:r>
          </a:p>
          <a:p>
            <a:pPr lvl="1" algn="just"/>
            <a:r>
              <a:rPr lang="en-GB" dirty="0">
                <a:solidFill>
                  <a:srgbClr val="1C3898"/>
                </a:solidFill>
              </a:rPr>
              <a:t> </a:t>
            </a:r>
            <a:r>
              <a:rPr lang="en-GB" sz="2800" dirty="0">
                <a:solidFill>
                  <a:srgbClr val="1C3898"/>
                </a:solidFill>
              </a:rPr>
              <a:t>SHAP Explanation Module </a:t>
            </a:r>
            <a:r>
              <a:rPr lang="en-GB" dirty="0">
                <a:solidFill>
                  <a:srgbClr val="1C3898"/>
                </a:solidFill>
              </a:rPr>
              <a:t>– Identifies which customer features influenced the prediction.</a:t>
            </a:r>
          </a:p>
          <a:p>
            <a:pPr lvl="1" algn="just"/>
            <a:r>
              <a:rPr lang="en-GB" sz="2800" dirty="0">
                <a:solidFill>
                  <a:srgbClr val="1C3898"/>
                </a:solidFill>
              </a:rPr>
              <a:t>Recommendation Module </a:t>
            </a:r>
            <a:r>
              <a:rPr lang="en-GB" dirty="0">
                <a:solidFill>
                  <a:srgbClr val="1C3898"/>
                </a:solidFill>
              </a:rPr>
              <a:t>– Gives the final recommendation for human credit review.</a:t>
            </a:r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dirty="0">
                <a:solidFill>
                  <a:srgbClr val="5583D1"/>
                </a:solidFill>
                <a:latin typeface="+mn-lt"/>
              </a:rPr>
              <a:t>Data Preparation 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– Load the German Credit dataset, remove duplicates, validate inputs, and select 17 prediction features.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dirty="0">
                <a:solidFill>
                  <a:srgbClr val="5583D1"/>
                </a:solidFill>
                <a:latin typeface="+mn-lt"/>
              </a:rPr>
              <a:t>Preprocessing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 – Apply One-Hot Encoding for categorical features and scaling where required.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dirty="0">
                <a:solidFill>
                  <a:srgbClr val="5583D1"/>
                </a:solidFill>
                <a:latin typeface="+mn-lt"/>
              </a:rPr>
              <a:t>Model Training 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– Train Logistic Regression, Random Forest, and Gradient Boosting models.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52E9C-1F03-7662-84BD-713F4870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5F4147-4DD6-2F31-6342-FEE0677B25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dirty="0">
                <a:solidFill>
                  <a:srgbClr val="5583D1"/>
                </a:solidFill>
                <a:latin typeface="+mn-lt"/>
              </a:rPr>
              <a:t>Model Selection 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– Use 3-Fold Stratified Cross-Validation and select the best model mainly using ROC-AUC and F1-score.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dirty="0">
                <a:solidFill>
                  <a:srgbClr val="5583D1"/>
                </a:solidFill>
                <a:latin typeface="+mn-lt"/>
              </a:rPr>
              <a:t>Risk Evaluation 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– Optimize the decision threshold using validation data, then evaluate with Accuracy, Precision, Recall, F1, and cost-sensitive analysis.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23669-7702-F977-4EE6-EAA0F2F929C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E2A13C-436B-B181-2A25-763BBB9BF70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4114187-D81F-E4AA-D6F1-DDA294828B1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874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Data Cleaning </a:t>
            </a:r>
            <a:r>
              <a:rPr lang="en-GB" sz="2400" b="0" dirty="0">
                <a:solidFill>
                  <a:srgbClr val="5583D1"/>
                </a:solidFill>
              </a:rPr>
              <a:t>– Check for missing values, duplicates, and valid target values before training.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Feature Selection </a:t>
            </a:r>
            <a:r>
              <a:rPr lang="en-GB" sz="2400" b="0" dirty="0">
                <a:solidFill>
                  <a:srgbClr val="5583D1"/>
                </a:solidFill>
              </a:rPr>
              <a:t>– Use 17 credit-related features and exclude age, </a:t>
            </a:r>
            <a:r>
              <a:rPr lang="en-GB" sz="2400" b="0" dirty="0" err="1">
                <a:solidFill>
                  <a:srgbClr val="5583D1"/>
                </a:solidFill>
              </a:rPr>
              <a:t>personal_status_sex</a:t>
            </a:r>
            <a:r>
              <a:rPr lang="en-GB" sz="2400" b="0" dirty="0">
                <a:solidFill>
                  <a:srgbClr val="5583D1"/>
                </a:solidFill>
              </a:rPr>
              <a:t>, and </a:t>
            </a:r>
            <a:r>
              <a:rPr lang="en-GB" sz="2400" b="0" dirty="0" err="1">
                <a:solidFill>
                  <a:srgbClr val="5583D1"/>
                </a:solidFill>
              </a:rPr>
              <a:t>foreign_worker</a:t>
            </a:r>
            <a:r>
              <a:rPr lang="en-GB" sz="2400" b="0" dirty="0">
                <a:solidFill>
                  <a:srgbClr val="5583D1"/>
                </a:solidFill>
              </a:rPr>
              <a:t> from prediction.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Encoding &amp; Scaling </a:t>
            </a:r>
            <a:r>
              <a:rPr lang="en-GB" sz="2400" b="0" dirty="0">
                <a:solidFill>
                  <a:srgbClr val="5583D1"/>
                </a:solidFill>
              </a:rPr>
              <a:t>– Apply One-Hot Encoding to categorical features and Standard Scaling for Logistic Regression numerical inputs.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EDA</a:t>
            </a:r>
            <a:r>
              <a:rPr lang="en-GB" sz="2400" b="0" dirty="0">
                <a:solidFill>
                  <a:srgbClr val="5583D1"/>
                </a:solidFill>
              </a:rPr>
              <a:t> – </a:t>
            </a:r>
            <a:r>
              <a:rPr lang="en-GB" sz="2400" b="0" dirty="0" err="1">
                <a:solidFill>
                  <a:srgbClr val="5583D1"/>
                </a:solidFill>
              </a:rPr>
              <a:t>Analyze</a:t>
            </a:r>
            <a:r>
              <a:rPr lang="en-GB" sz="2400" b="0" dirty="0">
                <a:solidFill>
                  <a:srgbClr val="5583D1"/>
                </a:solidFill>
              </a:rPr>
              <a:t> dataset size, class distribution, feature types, and basic data quality before model training.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Data Split </a:t>
            </a:r>
            <a:r>
              <a:rPr lang="en-GB" sz="2400" b="0" dirty="0">
                <a:solidFill>
                  <a:srgbClr val="5583D1"/>
                </a:solidFill>
              </a:rPr>
              <a:t>– Divide data into 60% training, 20% validation, and 20% testing using stratified sampling.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Approach</a:t>
            </a:r>
            <a:r>
              <a:rPr lang="en-US" sz="2400" b="0" dirty="0">
                <a:solidFill>
                  <a:srgbClr val="5583D1"/>
                </a:solidFill>
              </a:rPr>
              <a:t> – Build a credit-risk decision-support pipeline using Machine Learning + </a:t>
            </a:r>
            <a:r>
              <a:rPr lang="en-US" sz="2400" b="0" dirty="0" err="1">
                <a:solidFill>
                  <a:srgbClr val="5583D1"/>
                </a:solidFill>
              </a:rPr>
              <a:t>LangGraph</a:t>
            </a:r>
            <a:r>
              <a:rPr lang="en-US" sz="2400" b="0" dirty="0">
                <a:solidFill>
                  <a:srgbClr val="5583D1"/>
                </a:solidFill>
              </a:rPr>
              <a:t>-based Agentic AI.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 </a:t>
            </a:r>
            <a:r>
              <a:rPr lang="en-US" sz="2400" dirty="0">
                <a:solidFill>
                  <a:srgbClr val="5583D1"/>
                </a:solidFill>
              </a:rPr>
              <a:t>Algorithms</a:t>
            </a:r>
            <a:r>
              <a:rPr lang="en-US" sz="2400" b="0" dirty="0">
                <a:solidFill>
                  <a:srgbClr val="5583D1"/>
                </a:solidFill>
              </a:rPr>
              <a:t> – Compare Logistic Regression, Random Forest, and Gradient Boosting, then select the best model using cross-validation.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Explainability</a:t>
            </a:r>
            <a:r>
              <a:rPr lang="en-US" sz="2400" b="0" dirty="0">
                <a:solidFill>
                  <a:srgbClr val="5583D1"/>
                </a:solidFill>
              </a:rPr>
              <a:t> – Use SHAP to identify which customer features increase or decrease the predicted credit risk.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Agentic Workflow </a:t>
            </a:r>
            <a:r>
              <a:rPr lang="en-US" sz="2400" b="0" dirty="0">
                <a:solidFill>
                  <a:srgbClr val="5583D1"/>
                </a:solidFill>
              </a:rPr>
              <a:t>– Use </a:t>
            </a:r>
            <a:r>
              <a:rPr lang="en-US" sz="2400" b="0" dirty="0" err="1">
                <a:solidFill>
                  <a:srgbClr val="5583D1"/>
                </a:solidFill>
              </a:rPr>
              <a:t>LangGraph</a:t>
            </a:r>
            <a:r>
              <a:rPr lang="en-US" sz="2400" b="0" dirty="0">
                <a:solidFill>
                  <a:srgbClr val="5583D1"/>
                </a:solidFill>
              </a:rPr>
              <a:t> for validation, preprocessing, risk prediction, cost analysis, SHAP explanation, and recommendation.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5583D1"/>
                </a:solidFill>
              </a:rPr>
              <a:t>Tools</a:t>
            </a:r>
            <a:r>
              <a:rPr lang="en-US" sz="2400" b="0" dirty="0">
                <a:solidFill>
                  <a:srgbClr val="5583D1"/>
                </a:solidFill>
              </a:rPr>
              <a:t> – Python, Scikit-learn, Pandas, NumPy, </a:t>
            </a:r>
            <a:r>
              <a:rPr lang="en-US" sz="2400" b="0" dirty="0" err="1">
                <a:solidFill>
                  <a:srgbClr val="5583D1"/>
                </a:solidFill>
              </a:rPr>
              <a:t>LangGraph</a:t>
            </a:r>
            <a:r>
              <a:rPr lang="en-US" sz="2400" b="0" dirty="0">
                <a:solidFill>
                  <a:srgbClr val="5583D1"/>
                </a:solidFill>
              </a:rPr>
              <a:t>, SHAP, Flask, SQLite, and </a:t>
            </a:r>
            <a:r>
              <a:rPr lang="en-US" sz="2400" b="0" dirty="0" err="1">
                <a:solidFill>
                  <a:srgbClr val="5583D1"/>
                </a:solidFill>
              </a:rPr>
              <a:t>MLflow</a:t>
            </a:r>
            <a:r>
              <a:rPr lang="en-US" sz="2400" b="0" dirty="0">
                <a:solidFill>
                  <a:srgbClr val="5583D1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Dataset Preparation </a:t>
            </a:r>
            <a:r>
              <a:rPr lang="en-GB" sz="2400" b="0" dirty="0">
                <a:solidFill>
                  <a:srgbClr val="5583D1"/>
                </a:solidFill>
              </a:rPr>
              <a:t>– Completed German Credit dataset loaded, validated, and cleaned.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Preprocessing &amp; Model Development </a:t>
            </a:r>
            <a:r>
              <a:rPr lang="en-GB" sz="2400" b="0" dirty="0">
                <a:solidFill>
                  <a:srgbClr val="5583D1"/>
                </a:solidFill>
              </a:rPr>
              <a:t>– Completed17 features prepared and Logistic Regression, Random Forest, and Gradient Boosting implemented.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Model Evaluation </a:t>
            </a:r>
            <a:r>
              <a:rPr lang="en-GB" sz="2400" b="0" dirty="0">
                <a:solidFill>
                  <a:srgbClr val="5583D1"/>
                </a:solidFill>
              </a:rPr>
              <a:t>– Completed3-Fold Cross-Validation, threshold selection, Accuracy, Precision, Recall, F1, and cost-sensitive evaluation implemented.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Agentic AI Workflow </a:t>
            </a:r>
            <a:r>
              <a:rPr lang="en-GB" sz="2400" b="0" dirty="0">
                <a:solidFill>
                  <a:srgbClr val="5583D1"/>
                </a:solidFill>
              </a:rPr>
              <a:t>– Completed </a:t>
            </a:r>
            <a:r>
              <a:rPr lang="en-GB" sz="2400" b="0" dirty="0" err="1">
                <a:solidFill>
                  <a:srgbClr val="5583D1"/>
                </a:solidFill>
              </a:rPr>
              <a:t>LangGraph</a:t>
            </a:r>
            <a:r>
              <a:rPr lang="en-GB" sz="2400" b="0" dirty="0">
                <a:solidFill>
                  <a:srgbClr val="5583D1"/>
                </a:solidFill>
              </a:rPr>
              <a:t> workflow with validation, preprocessing, risk prediction, cost analysis, SHAP explanation, and recommendation is implemented.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400" dirty="0">
                <a:solidFill>
                  <a:srgbClr val="5583D1"/>
                </a:solidFill>
              </a:rPr>
              <a:t>Application &amp; Monitoring </a:t>
            </a:r>
            <a:r>
              <a:rPr lang="en-GB" sz="2400" b="0" dirty="0">
                <a:solidFill>
                  <a:srgbClr val="5583D1"/>
                </a:solidFill>
              </a:rPr>
              <a:t>– Completed / In Progress Flask UI/API, SQLite assessment history, ML flow tracking, fairness audit, drift monitoring, batch processing, and PDF report support are included.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B302C9-AA8E-90F8-0427-F492C44C3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0" y="1234637"/>
            <a:ext cx="9069224" cy="510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p1_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516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Tharuneesh G K</cp:lastModifiedBy>
  <cp:revision>15</cp:revision>
  <dcterms:created xsi:type="dcterms:W3CDTF">2024-05-13T10:33:11Z</dcterms:created>
  <dcterms:modified xsi:type="dcterms:W3CDTF">2026-10-06T08:34:25Z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