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psmdcp" ContentType="application/vnd.openxmlformats-package.core-properties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268d3f7f854f08" /><Relationship Type="http://schemas.openxmlformats.org/package/2006/relationships/metadata/core-properties" Target="/package/services/metadata/core-properties/9dc8b58b5f0342f28dba4ea07666eb9d.psmdcp" Id="R1806213d71b44de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b032f2e5c620409b"/>
    <p:sldMasterId id="2147483662" r:id="R7603f24cc459440a"/>
  </p:sldMasterIdLst>
  <p:notesMasterIdLst>
    <p:notesMasterId r:id="R5a8ad8f537804388"/>
  </p:notesMasterIdLst>
  <p:sldIdLst>
    <p:sldId id="256" r:id="Rae5704c893574f65"/>
    <p:sldId id="257" r:id="R5615e3dc07194872"/>
    <p:sldId id="258" r:id="R0677cfae51d345b7"/>
    <p:sldId id="259" r:id="Rbcea249cccde4738"/>
    <p:sldId id="260" r:id="R3121211ede9c4a1a"/>
    <p:sldId id="261" r:id="R2f6a83efab924c9e"/>
    <p:sldId id="262" r:id="R759b4f20a4b04d78"/>
    <p:sldId id="263" r:id="R09cde5d6d7424ebd"/>
    <p:sldId id="264" r:id="R00b3fd0917984d04"/>
    <p:sldId id="265" r:id="Red311c5b46bf49af"/>
    <p:sldId id="266" r:id="Rcc84f67adda94518"/>
    <p:sldId id="267" r:id="R7e2170a981f44d1c"/>
    <p:sldId id="268" r:id="R7ac9513c67a74705"/>
    <p:sldId id="269" r:id="R13ff50ec2cdf4696"/>
    <p:sldId id="270" r:id="Rc566e4ae69324697"/>
    <p:sldId id="271" r:id="R7137fe50086542c0"/>
    <p:sldId id="272" r:id="Ra7f9366a50c14da9"/>
    <p:sldId id="273" r:id="R3f4b5dd571af49f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0C8B7E1-8674-4730-B2C8-AEA6B080A4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6CAD268-3F10-421D-BA33-64A75AFF0AC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93100EF-B65B-4215-8807-50E75C0B910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8ad8f537804388" /><Relationship Type="http://schemas.openxmlformats.org/officeDocument/2006/relationships/presProps" Target="/ppt/presProps.xml" Id="Ra5274c9c608a4685" /><Relationship Type="http://schemas.openxmlformats.org/officeDocument/2006/relationships/slideMaster" Target="/ppt/slideMasters/slideMaster1.xml" Id="Rb032f2e5c620409b" /><Relationship Type="http://schemas.openxmlformats.org/officeDocument/2006/relationships/theme" Target="/ppt/slideMasters/theme/theme2.xml" Id="Ra7489cdf363e4b13" /><Relationship Type="http://schemas.openxmlformats.org/officeDocument/2006/relationships/slide" Target="/ppt/slides/slide1.xml" Id="Rae5704c893574f65" /><Relationship Type="http://schemas.openxmlformats.org/officeDocument/2006/relationships/tableStyles" Target="/ppt/tableStyles.xml" Id="R440a61ee22c14752" /><Relationship Type="http://schemas.openxmlformats.org/officeDocument/2006/relationships/slide" Target="/ppt/slides/slide2.xml" Id="R5615e3dc07194872" /><Relationship Type="http://schemas.openxmlformats.org/officeDocument/2006/relationships/slide" Target="/ppt/slides/slide3.xml" Id="R0677cfae51d345b7" /><Relationship Type="http://schemas.openxmlformats.org/officeDocument/2006/relationships/slide" Target="/ppt/slides/slide4.xml" Id="Rbcea249cccde4738" /><Relationship Type="http://schemas.openxmlformats.org/officeDocument/2006/relationships/slide" Target="/ppt/slides/slide5.xml" Id="R3121211ede9c4a1a" /><Relationship Type="http://schemas.openxmlformats.org/officeDocument/2006/relationships/slide" Target="/ppt/slides/slide6.xml" Id="R2f6a83efab924c9e" /><Relationship Type="http://schemas.openxmlformats.org/officeDocument/2006/relationships/slide" Target="/ppt/slides/slide7.xml" Id="R759b4f20a4b04d78" /><Relationship Type="http://schemas.openxmlformats.org/officeDocument/2006/relationships/slide" Target="/ppt/slides/slide8.xml" Id="R09cde5d6d7424ebd" /><Relationship Type="http://schemas.openxmlformats.org/officeDocument/2006/relationships/slide" Target="/ppt/slides/slide9.xml" Id="R00b3fd0917984d04" /><Relationship Type="http://schemas.openxmlformats.org/officeDocument/2006/relationships/slideMaster" Target="/ppt/slideMasters/slideMaster2.xml" Id="R7603f24cc459440a" /><Relationship Type="http://schemas.openxmlformats.org/officeDocument/2006/relationships/slide" Target="/ppt/slides/slide10.xml" Id="Red311c5b46bf49af" /><Relationship Type="http://schemas.openxmlformats.org/officeDocument/2006/relationships/slide" Target="/ppt/slides/slide11.xml" Id="Rcc84f67adda94518" /><Relationship Type="http://schemas.openxmlformats.org/officeDocument/2006/relationships/slide" Target="/ppt/slides/slide12.xml" Id="R7e2170a981f44d1c" /><Relationship Type="http://schemas.openxmlformats.org/officeDocument/2006/relationships/slide" Target="/ppt/slides/slide13.xml" Id="R7ac9513c67a74705" /><Relationship Type="http://schemas.openxmlformats.org/officeDocument/2006/relationships/slide" Target="/ppt/slides/slide14.xml" Id="R13ff50ec2cdf4696" /><Relationship Type="http://schemas.openxmlformats.org/officeDocument/2006/relationships/slide" Target="/ppt/slides/slide15.xml" Id="Rc566e4ae69324697" /><Relationship Type="http://schemas.openxmlformats.org/officeDocument/2006/relationships/slide" Target="/ppt/slides/slide16.xml" Id="R7137fe50086542c0" /><Relationship Type="http://schemas.openxmlformats.org/officeDocument/2006/relationships/slide" Target="/ppt/slides/slide17.xml" Id="Ra7f9366a50c14da9" /><Relationship Type="http://schemas.openxmlformats.org/officeDocument/2006/relationships/slide" Target="/ppt/slides/slide18.xml" Id="R3f4b5dd571af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120343e3779f44e6" 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Masters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d4cc243f664925" /><Relationship Type="http://schemas.openxmlformats.org/officeDocument/2006/relationships/notesMaster" Target="/ppt/notesMasters/notesMaster1.xml" Id="R0be0912b7017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9180f0e0247a5" /><Relationship Type="http://schemas.openxmlformats.org/officeDocument/2006/relationships/notesMaster" Target="/ppt/notesMasters/notesMaster1.xml" Id="R6819b948ae3d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d0c06a7c04421" /><Relationship Type="http://schemas.openxmlformats.org/officeDocument/2006/relationships/notesMaster" Target="/ppt/notesMasters/notesMaster1.xml" Id="Rc792e53803f7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10d34ec1244ec4" /><Relationship Type="http://schemas.openxmlformats.org/officeDocument/2006/relationships/notesMaster" Target="/ppt/notesMasters/notesMaster1.xml" Id="R162b0232b26e40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3e79b85af748d3" /><Relationship Type="http://schemas.openxmlformats.org/officeDocument/2006/relationships/notesMaster" Target="/ppt/notesMasters/notesMaster1.xml" Id="Rbbed1c365c7647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2bd4d646e49de" /><Relationship Type="http://schemas.openxmlformats.org/officeDocument/2006/relationships/notesMaster" Target="/ppt/notesMasters/notesMaster1.xml" Id="R82106ee56b3548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498599bb648ab" /><Relationship Type="http://schemas.openxmlformats.org/officeDocument/2006/relationships/notesMaster" Target="/ppt/notesMasters/notesMaster1.xml" Id="R1cc7db3fb09345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c96451a2124f03" /><Relationship Type="http://schemas.openxmlformats.org/officeDocument/2006/relationships/notesMaster" Target="/ppt/notesMasters/notesMaster1.xml" Id="R29f4a7a7e664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454a2f795445c6" /><Relationship Type="http://schemas.openxmlformats.org/officeDocument/2006/relationships/notesMaster" Target="/ppt/notesMasters/notesMaster1.xml" Id="R944766b8ce9044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30ddf7f32848e7" /><Relationship Type="http://schemas.openxmlformats.org/officeDocument/2006/relationships/notesMaster" Target="/ppt/notesMasters/notesMaster1.xml" Id="Ra3e1901bbe5946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40c0fd1b5b4485" /><Relationship Type="http://schemas.openxmlformats.org/officeDocument/2006/relationships/notesMaster" Target="/ppt/notesMasters/notesMaster1.xml" Id="R5eca08fc221d4d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247beb7ba74acd" /><Relationship Type="http://schemas.openxmlformats.org/officeDocument/2006/relationships/notesMaster" Target="/ppt/notesMasters/notesMaster1.xml" Id="R779494bb3fde49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a42c6a44c547b4" /><Relationship Type="http://schemas.openxmlformats.org/officeDocument/2006/relationships/notesMaster" Target="/ppt/notesMasters/notesMaster1.xml" Id="Rc1a44a6c80d544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b4a798a3554863" /><Relationship Type="http://schemas.openxmlformats.org/officeDocument/2006/relationships/notesMaster" Target="/ppt/notesMasters/notesMaster1.xml" Id="Rd05ef1f3cfd246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614f63a00f40c9" /><Relationship Type="http://schemas.openxmlformats.org/officeDocument/2006/relationships/notesMaster" Target="/ppt/notesMasters/notesMaster1.xml" Id="R81b575e55d2945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bd4e8cd1464b9c" /><Relationship Type="http://schemas.openxmlformats.org/officeDocument/2006/relationships/notesMaster" Target="/ppt/notesMasters/notesMaster1.xml" Id="R2809dec328d042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2b2629575e4cec" /><Relationship Type="http://schemas.openxmlformats.org/officeDocument/2006/relationships/notesMaster" Target="/ppt/notesMasters/notesMaster1.xml" Id="R9324b3d48c584c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c4f461056c42be" /><Relationship Type="http://schemas.openxmlformats.org/officeDocument/2006/relationships/notesMaster" Target="/ppt/notesMasters/notesMaster1.xml" Id="Rf27aba406d1b409c"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33f87869d45c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9cb5b778dd4eb9" /></Relationships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9fd7b8267e0443a" /><Relationship Type="http://schemas.openxmlformats.org/officeDocument/2006/relationships/image" Target="/ppt/media/image2.png" Id="R3aaaed274b034a34" /><Relationship Type="http://schemas.openxmlformats.org/officeDocument/2006/relationships/image" Target="/ppt/media/image.jpg" Id="R6f34562ee4cb47bc" /><Relationship Type="http://schemas.openxmlformats.org/officeDocument/2006/relationships/theme" Target="/ppt/slideMasters/theme/theme2.xml" Id="R7ad5b5db005240dc" /><Relationship Type="http://schemas.openxmlformats.org/officeDocument/2006/relationships/slideLayout" Target="/ppt/slideLayouts/slideLayout5.xml" Id="R21967eb8c99f400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adfe7c4d80ac446e" /><Relationship Type="http://schemas.openxmlformats.org/officeDocument/2006/relationships/image" Target="/ppt/media/image2.png" Id="R28c74059461749dd" /><Relationship Type="http://schemas.openxmlformats.org/officeDocument/2006/relationships/image" Target="/ppt/media/image.jpg" Id="Rd9e9679a9a374851" /><Relationship Type="http://schemas.openxmlformats.org/officeDocument/2006/relationships/theme" Target="/ppt/slideMasters/theme/theme3.xml" Id="Rd00a7eafdfab4490" /><Relationship Type="http://schemas.openxmlformats.org/officeDocument/2006/relationships/slideLayout" Target="/ppt/slideLayouts/slideLayout18.xml" Id="Ra540a6dc29b343f5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19fd7b8267e0443a">
            <a:alphaModFix/>
          </a:blip>
          <a:srcRect l="0" t="0" r="0" b="0"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3aaaed274b034a34">
            <a:alphaModFix/>
          </a:blip>
          <a:srcRect l="0" t="0" r="0" b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6f34562ee4cb47bc">
            <a:alphaModFix/>
          </a:blip>
          <a:srcRect l="0" t="0" r="0" b="0"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21967eb8c99f400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adfe7c4d80ac446e">
            <a:alphaModFix/>
          </a:blip>
          <a:srcRect l="0" t="0" r="0" b="0"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28c74059461749dd">
            <a:alphaModFix/>
          </a:blip>
          <a:srcRect l="0" t="0" r="0" b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d9e9679a9a374851">
            <a:alphaModFix/>
          </a:blip>
          <a:srcRect l="0" t="0" r="0" b="0"/>
          <a:stretch/>
        </p:blipFill>
        <p:spPr>
          <a:xfrm>
            <a:off x="11459750" y="6584400"/>
            <a:ext cx="611850" cy="273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a540a6dc29b343f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png" Id="R9d96b1c724a74782" /><Relationship Type="http://schemas.openxmlformats.org/officeDocument/2006/relationships/image" Target="/ppt/media/image4.png" Id="Rd190cdae8ec44e71" /><Relationship Type="http://schemas.openxmlformats.org/officeDocument/2006/relationships/notesSlide" Target="/ppt/notesSlides/notesSlide1.xml" Id="Rd8b2b8d265fe4a95" /><Relationship Type="http://schemas.openxmlformats.org/officeDocument/2006/relationships/slideLayout" Target="/ppt/slideLayouts/slideLayout5.xml" Id="R1b21329d055c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9378e8d455a4147" /><Relationship Type="http://schemas.openxmlformats.org/officeDocument/2006/relationships/slideLayout" Target="/ppt/slideLayouts/slideLayout5.xml" Id="R6f43f7b46b644e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b2d573e593934c6e" /><Relationship Type="http://schemas.openxmlformats.org/officeDocument/2006/relationships/slideLayout" Target="/ppt/slideLayouts/slideLayout5.xml" Id="Rf2340557dbf24d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163efff97b2f475c" /><Relationship Type="http://schemas.openxmlformats.org/officeDocument/2006/relationships/slideLayout" Target="/ppt/slideLayouts/slideLayout5.xml" Id="Rb2bccc31a05748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7d9131bcabdf4521" /><Relationship Type="http://schemas.openxmlformats.org/officeDocument/2006/relationships/slideLayout" Target="/ppt/slideLayouts/slideLayout5.xml" Id="R7c4077035ec2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5550016552314f5a" /><Relationship Type="http://schemas.openxmlformats.org/officeDocument/2006/relationships/slideLayout" Target="/ppt/slideLayouts/slideLayout5.xml" Id="R0ef1043b3b5f4f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5beda5bbbdc5444a" /><Relationship Type="http://schemas.openxmlformats.org/officeDocument/2006/relationships/slideLayout" Target="/ppt/slideLayouts/slideLayout5.xml" Id="Rca67f00e183847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notesSlide" Target="/ppt/notesSlides/notesSlide8.xml" Id="Ra80c0c495f8e4668" /><Relationship Type="http://schemas.openxmlformats.org/officeDocument/2006/relationships/slideLayout" Target="/ppt/slideLayouts/slideLayout5.xml" Id="R1103f406969341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b5ee4c7acd5f4cee" /><Relationship Type="http://schemas.openxmlformats.org/officeDocument/2006/relationships/slideLayout" Target="/ppt/slideLayouts/slideLayout5.xml" Id="R0dd2b29c3d6b41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.png" Id="Rfa332e0a898547ba" /><Relationship Type="http://schemas.openxmlformats.org/officeDocument/2006/relationships/image" Target="/ppt/media/image4.png" Id="Re3c8131834d944dc" /><Relationship Type="http://schemas.openxmlformats.org/officeDocument/2006/relationships/notesSlide" Target="/ppt/notesSlides/notesSlide10.xml" Id="Rd4bbacc1e99344d1" /><Relationship Type="http://schemas.openxmlformats.org/officeDocument/2006/relationships/slideLayout" Target="/ppt/slideLayouts/slideLayout18.xml" Id="Rccd24f1b93ff4f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e0c3000e84df4427" /><Relationship Type="http://schemas.openxmlformats.org/officeDocument/2006/relationships/slideLayout" Target="/ppt/slideLayouts/slideLayout18.xml" Id="R143f2ea8af174a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813eef9675db4c23" /><Relationship Type="http://schemas.openxmlformats.org/officeDocument/2006/relationships/slideLayout" Target="/ppt/slideLayouts/slideLayout18.xml" Id="R5aef277cc8fd49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8eadc28975694280" /><Relationship Type="http://schemas.openxmlformats.org/officeDocument/2006/relationships/slideLayout" Target="/ppt/slideLayouts/slideLayout18.xml" Id="Rdf99441d425442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c2b1de14ed494622" /><Relationship Type="http://schemas.openxmlformats.org/officeDocument/2006/relationships/slideLayout" Target="/ppt/slideLayouts/slideLayout18.xml" Id="R59e5685b5cdd4d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notesSlide" Target="/ppt/notesSlides/notesSlide15.xml" Id="R551cb4fb0c5646c9" /><Relationship Type="http://schemas.openxmlformats.org/officeDocument/2006/relationships/slideLayout" Target="/ppt/slideLayouts/slideLayout18.xml" Id="R50550a50db5a42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notesSlide" Target="/ppt/notesSlides/notesSlide16.xml" Id="R468c7d8fd1f341e0" /><Relationship Type="http://schemas.openxmlformats.org/officeDocument/2006/relationships/slideLayout" Target="/ppt/slideLayouts/slideLayout18.xml" Id="Rf86a4d5100f94e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bde4675145c4449f" /><Relationship Type="http://schemas.openxmlformats.org/officeDocument/2006/relationships/slideLayout" Target="/ppt/slideLayouts/slideLayout18.xml" Id="Rf610e2fa827046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notesSlide" Target="/ppt/notesSlides/notesSlide18.xml" Id="Rc57b837abb754dda" /><Relationship Type="http://schemas.openxmlformats.org/officeDocument/2006/relationships/slideLayout" Target="/ppt/slideLayouts/slideLayout18.xml" Id="R44a28f4f912648df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DHASLIM N (251011007)</a:t>
            </a:r>
            <a:endParaRPr b="1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{7A6AE9A8-6298-4076-9231-B7FAEA5409DA}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9d96b1c724a74782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d190cdae8ec44e71">
            <a:alphaModFix/>
          </a:blip>
          <a:srcRect b="0" l="0" r="0" t="0"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Focuses on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customer complaint management for an e-commerce company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Automatically classifies complaints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to retrieve relevant resolution suggestions.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routing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reliable complaint handling.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Integrates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ML, RAG and MLOps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into a complete complaint resolution framework.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an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automated customer complaint classification system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Compare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performance.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 and FAISS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relevant resolution retrieval.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Hybrid ML + RAG framework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 the system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Accuracy, F1-score and confidence scores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Covers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e-commerce customer complaints and support requests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Identifies the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complaint category and customer intent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automatically.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Retrieves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relevant solutions using RAG and FAISS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Routes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low-confidence complaints for manual review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Flask-based web application for real-time analysis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research evaluation through ML, RAG and Hybrid model comparison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/>
        </p:nvGraphicFramePr>
        <p:xfrm>
          <a:off x="740075" y="13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/>
                <a:gridCol w="2776800"/>
                <a:gridCol w="1836100"/>
                <a:gridCol w="1836100"/>
                <a:gridCol w="1836100"/>
                <a:gridCol w="1836100"/>
              </a:tblGrid>
              <a:tr h="8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b="1" sz="20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b="1" sz="20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b="1" sz="20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b="1" sz="20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b="1" sz="20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b="1" sz="20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2201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 of RAG in Chatbot Systems for Enhanced Real-Time Customer Support in E-Commerce.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Benita, K. V. C. Tej, E. Vinay Kumar, G. Venkata Subbarao et al.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ICACRS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RAG for e-commerce customer support and contextual responses.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22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 of Customer Complaints: TF-IDF Approaches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Doni Purnama Alamsyah, Toni Arifin, Yudi Ramdhani, Febriansyah A. Hidayat et al.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CONIT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TF-IDF for automated complaint classification.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22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Topic-Aware Multi-Class Classification for Financial Complaints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publication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Compares Logistic Regression, Random Forest and other ML models for complaints.</a:t>
                      </a:r>
                      <a:endParaRPr b="1" sz="16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256000" y="1271225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Existing studies show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ML effectively classifies customer complaints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improves retrieval of relevant customer-support solutions.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Hybrid approaches improve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classification and resolution support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Existing systems have limitations in handling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low-confidence complaints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ServiceSense AI addresses this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ML + RAG with manual review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26,872 customer complaint records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are used for developing and evaluating the proposed system.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are considered as baseline ML models for complaint classification.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Hybrid ML + RAG with FAISS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is designed to classify complaints and retrieve relevant resolution information.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decision mechanism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is incorporated to route uncertain complaints for manual review.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t/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1: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Customer complaint dataset preprocessing and analysis.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2: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Complaint classification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3: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Resolution retrieval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 and FAISS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4: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Hybrid ML + RAG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decision framework.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5: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Flask, MLOps and PythonAnywhere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deployment.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Achieves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accurate automated classification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of customer complaints.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relevant resolution suggestions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using RAG.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Identifies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low-confidence cases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manual review.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Reduces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manual effort and complaint resolution time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deployable intelligent customer-support system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5"/>
            <a:ext cx="3033000" cy="412800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DHASLIM N (251011007)</a:t>
            </a:r>
            <a:endParaRPr b="1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b="1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{26CAD268-3F10-421D-BA33-64A75AFF0ACE}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fa332e0a898547ba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e3c8131834d944dc">
            <a:alphaModFix/>
          </a:blip>
          <a:srcRect b="0" l="0" r="0" t="0"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56000" y="1271225"/>
            <a:ext cx="11760600" cy="4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AI-based system for conducting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real-time technical mock interviews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voice interaction, speech-to-text, and instant answer evaluation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Agentic AI and RAG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intelligent and context-aware interview assessment.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AEGIE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adaptive questioning and personalized feedback.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Research compares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Baseline, RAG, and AEGIE v2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using quantitative and statistical evaluation.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3444178" y="57025"/>
            <a:ext cx="874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83" name="Google Shape;83;p17"/>
          <p:cNvSpPr txBox="1"/>
          <p:nvPr/>
        </p:nvSpPr>
        <p:spPr>
          <a:xfrm>
            <a:off x="3216575" y="57025"/>
            <a:ext cx="897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93475" y="1149050"/>
            <a:ext cx="10624200" cy="49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a real-time AI-based voice interview system for technical interview practice.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Implement adaptive question selection based on candidate performance.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Integrate Agentic AI and RAG for intelligent answer evaluation and feedback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AEGIE to improve personalized and question-wise interview assessment.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 Baseline, RAG, and AEGIE v2 using research metrics and statistical tests.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256000" y="1271225"/>
            <a:ext cx="11654400" cy="50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technical interviews across four different job roles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Conducts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real-time voice-based interviews with speech-to-text conversion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adaptive questions based on the candidate’s performance level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technical answers, clarity, filler words, and voice delivery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Generates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instant feedback, performance reports, and research evaluation results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2867629" y="57025"/>
            <a:ext cx="9324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99" name="Google Shape;99;p19"/>
          <p:cNvSpPr txBox="1"/>
          <p:nvPr/>
        </p:nvSpPr>
        <p:spPr>
          <a:xfrm>
            <a:off x="3550375" y="57025"/>
            <a:ext cx="864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AEGIE: A Research Framework for Adaptive Agentic AI Based Voice Interview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1103375" y="123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{593100EF-B65B-4215-8807-50E75C0B9107}</a:tableStyleId>
              </a:tblPr>
              <a:tblGrid>
                <a:gridCol w="1714500"/>
                <a:gridCol w="1714500"/>
                <a:gridCol w="1714500"/>
                <a:gridCol w="1714500"/>
                <a:gridCol w="1714500"/>
                <a:gridCol w="1714500"/>
              </a:tblGrid>
              <a:tr h="89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5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Based Mock Interview System Using Natural Language Processing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K. Senthilkumar, S. Ranjith, M. Sivasakthi, R. Ramvignesh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– ICoACT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NLP, Speech-to-Text, Text-to-Speech and adaptive assessment for AI mock interviews.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53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Survey of AI-Driven Mock Interviews Using GenAI and Machine Learning (InterviewX)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Jyotsna Vilas Barpute, Onkar Wattamwar, Suhelali Pakjade, Sanika Diwate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– ICUIS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RAG, GenAI and personalized feedback, directly supporting our RAG-based interview approach. 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5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Interview Training System Using Multimodal Behavior Analysis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 Takeuchi, T. Koda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– ACIIW</a:t>
                      </a:r>
                      <a:endParaRPr b="1" sz="15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multimodal behavior for automated interview assessment</a:t>
                      </a:r>
                      <a:endParaRPr b="1" sz="1400" u="none" cap="none" strike="noStrik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1" name="Google Shape;101;p19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{26CAD268-3F10-421D-BA33-64A75AFF0ACE}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682775" y="1271225"/>
            <a:ext cx="10787700" cy="5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AI-based mock interviews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provide automated and realistic interview practice.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NLP and voice technologies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help analyze candidate answers and communication.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 and adaptive AI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improve question generation and personalized feedback.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Existing systems lack an integrated approach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combining Agentic AI, RAG, voice analysis, and adaptive evaluation.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09" name="Google Shape;109;p20"/>
          <p:cNvSpPr txBox="1"/>
          <p:nvPr/>
        </p:nvSpPr>
        <p:spPr>
          <a:xfrm>
            <a:off x="3444178" y="57025"/>
            <a:ext cx="8747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713100" y="1271225"/>
            <a:ext cx="11258100" cy="52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Dataset Size: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Contains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70 interview questions for each selected job role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covering different technical areas.</a:t>
            </a:r>
            <a:endParaRPr b="0" sz="2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Job Roles: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Includes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Scientist, Machine Learning Engineer, Software Developer, and Data Analyst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interview questions.</a:t>
            </a:r>
            <a:endParaRPr b="0" sz="2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Question Categories: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Covers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Python, SQL, Statistics, ML Theory, A/B Testing, NLP, Deep Learning, Feature Engineering, and System Design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Difficulty Levels: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Questions are divided into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Beginner, Intermediate, and Advanced</a:t>
            </a:r>
            <a:r>
              <a:rPr b="0"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allowing AEGIE to select questions adaptively based on candidate performance.</a:t>
            </a:r>
            <a:endParaRPr b="0" sz="25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17" name="Google Shape;117;p21"/>
          <p:cNvSpPr txBox="1"/>
          <p:nvPr/>
        </p:nvSpPr>
        <p:spPr>
          <a:xfrm>
            <a:off x="3702103" y="57025"/>
            <a:ext cx="849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819325" y="1271225"/>
            <a:ext cx="10060800" cy="50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1 – Voice Interview: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Conducts real-time voice-based mock interviews.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2 – Adaptive Questioning: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Changes question difficulty based on candidate performance.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3 – AEGIE Evaluation: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Evaluates answers and provides scores with instant feedback.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4 – Research &amp; MLOps: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Compares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Baseline, RAG, and AEGIE v2</a:t>
            </a:r>
            <a:r>
              <a:rPr b="0"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and monitors performance using research metrics.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5583D1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25" name="Google Shape;125;p22"/>
          <p:cNvSpPr txBox="1"/>
          <p:nvPr/>
        </p:nvSpPr>
        <p:spPr>
          <a:xfrm>
            <a:off x="3262103" y="57025"/>
            <a:ext cx="892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2" type="body"/>
          </p:nvPr>
        </p:nvSpPr>
        <p:spPr>
          <a:xfrm>
            <a:off x="288025" y="629525"/>
            <a:ext cx="1053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3"/>
          <p:cNvCxnSpPr>
            <a:stCxn id="130" idx="1"/>
            <a:endCxn id="130" idx="1"/>
          </p:cNvCxnSpPr>
          <p:nvPr/>
        </p:nvCxnSpPr>
        <p:spPr>
          <a:xfrm>
            <a:off x="288025" y="10142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23"/>
          <p:cNvCxnSpPr>
            <a:stCxn id="130" idx="1"/>
            <a:endCxn id="130" idx="1"/>
          </p:cNvCxnSpPr>
          <p:nvPr/>
        </p:nvCxnSpPr>
        <p:spPr>
          <a:xfrm>
            <a:off x="288025" y="10142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23"/>
          <p:cNvCxnSpPr/>
          <p:nvPr/>
        </p:nvCxnSpPr>
        <p:spPr>
          <a:xfrm>
            <a:off x="288025" y="1261875"/>
            <a:ext cx="6556200" cy="41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23"/>
          <p:cNvSpPr txBox="1"/>
          <p:nvPr/>
        </p:nvSpPr>
        <p:spPr>
          <a:xfrm>
            <a:off x="410025" y="1302975"/>
            <a:ext cx="110604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Improved Evaluation: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Provides accurate question-wise interview scores and feedback.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Adaptive Interview: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Adjusts question difficulty based on the candidate’s performance.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Better Performance: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AEGIE v2 is expected to perform better than </a:t>
            </a: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Baseline and RAG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approaches.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Candidate Improvement: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Helps candidates identify </a:t>
            </a:r>
            <a:r>
              <a:rPr b="1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strengths, weak areas, and communication issues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3535200" y="-75875"/>
            <a:ext cx="8693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