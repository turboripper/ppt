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6AE9A8-6298-4076-9231-B7FAEA5409DA}">
  <a:tblStyle styleId="{7A6AE9A8-6298-4076-9231-B7FAEA5409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0C8B7E1-8674-4730-B2C8-AEA6B080A4A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5215644"/>
            <a:ext cx="12191995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TM Limited (Formerly LTIMindtree Limited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33000" y="6472900"/>
            <a:ext cx="800375" cy="2965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4"/>
            <a:ext cx="3033000" cy="4050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Authority-Aware and Evidence-Verified Retrieval-Augmented Generation for Reliable Legal Research over Indian Judicial Judgments</a:t>
            </a: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US"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T9969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THARUNEESH 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 K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(251011017)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 (2025-2027)</a:t>
            </a: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>
            <p:extLst>
              <p:ext uri="{D42A27DB-BD31-4B8C-83A1-F6EECF244321}">
                <p14:modId xmlns:p14="http://schemas.microsoft.com/office/powerpoint/2010/main" val="3848540551"/>
              </p:ext>
            </p:extLst>
          </p:nvPr>
        </p:nvGraphicFramePr>
        <p:xfrm>
          <a:off x="48499" y="5514913"/>
          <a:ext cx="12712949" cy="3345060"/>
        </p:xfrm>
        <a:graphic>
          <a:graphicData uri="http://schemas.openxmlformats.org/drawingml/2006/table">
            <a:tbl>
              <a:tblPr firstRow="1" bandRow="1">
                <a:noFill/>
                <a:tableStyleId>{7A6AE9A8-6298-4076-9231-B7FAEA5409DA}</a:tableStyleId>
              </a:tblPr>
              <a:tblGrid>
                <a:gridCol w="3321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1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1809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                              Implementation partner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69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088881" y="5067313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406348" cy="4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Legal research takes a lot of time because court judgments are long.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RAG helps users quickly find relevant information from judgments.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Normal RAG may sometimes generate incorrect or unsupported answers.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LEX-RAG improves reliability by retrieving and verifying legal evidence.</a:t>
            </a:r>
            <a:endParaRPr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4354525" y="0"/>
            <a:ext cx="7837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ServiceSense AI - Customer Complaint Classification &amp; Resolution Intelligence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an AI-based legal research assistant for Indian court judgments.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Use BM25 and Dense Retrieval to find relevant legal information.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Apply Authority-Aware Ranking to prioritize reliable legal evidence.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 Claim-Level Evidence Verification framework using NLI.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Evaluate the system using Recall, Grounding Score and Supported Claim Rate.</a:t>
            </a:r>
            <a:endParaRPr lang="en-IN"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sz="2600" b="0" dirty="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84" name="Google Shape;84;p17"/>
          <p:cNvSpPr txBox="1"/>
          <p:nvPr/>
        </p:nvSpPr>
        <p:spPr>
          <a:xfrm>
            <a:off x="1001399" y="57025"/>
            <a:ext cx="1119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ServiceSense AI - Customer Complaint Classification &amp; Resolution Intelligence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405898" y="1234468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Focus on Indian judicial judgments for legal research.</a:t>
            </a:r>
          </a:p>
          <a:p>
            <a:pPr marL="0" lvl="0" indent="0" algn="just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Support question-based retrieval of relevant legal evidence.</a:t>
            </a:r>
          </a:p>
          <a:p>
            <a:pPr marL="0" lvl="0" indent="0" algn="just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Use authority-aware ranking to improve evidence quality.</a:t>
            </a:r>
          </a:p>
          <a:p>
            <a:pPr marL="0" lvl="0" indent="0" algn="just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Verify generated answers using claim-level NLI checking.</a:t>
            </a:r>
          </a:p>
          <a:p>
            <a:pPr marL="0" lvl="0" indent="0" algn="just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Evaluate retrieval accuracy, grounding and reliability of LEX-RAG.</a:t>
            </a:r>
          </a:p>
          <a:p>
            <a:pPr marL="0" lvl="0" indent="0" algn="just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endParaRPr lang="en-IN"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Judgments → Chunking → BM25 + Dense → RRF → Cross-Encoder → Authority Ranking → LLM → Claims → Evidence → NLI Verification → Final Answer.</a:t>
            </a:r>
            <a:endParaRPr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3110378" y="57025"/>
            <a:ext cx="908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9" name="Google Shape;99;p19"/>
          <p:cNvSpPr txBox="1"/>
          <p:nvPr/>
        </p:nvSpPr>
        <p:spPr>
          <a:xfrm>
            <a:off x="4237477" y="0"/>
            <a:ext cx="773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412450" y="2594500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19"/>
          <p:cNvGraphicFramePr/>
          <p:nvPr>
            <p:extLst>
              <p:ext uri="{D42A27DB-BD31-4B8C-83A1-F6EECF244321}">
                <p14:modId xmlns:p14="http://schemas.microsoft.com/office/powerpoint/2010/main" val="2928955220"/>
              </p:ext>
            </p:extLst>
          </p:nvPr>
        </p:nvGraphicFramePr>
        <p:xfrm>
          <a:off x="408036" y="1149045"/>
          <a:ext cx="11527968" cy="5074170"/>
        </p:xfrm>
        <a:graphic>
          <a:graphicData uri="http://schemas.openxmlformats.org/drawingml/2006/table">
            <a:tbl>
              <a:tblPr>
                <a:noFill/>
                <a:tableStyleId>{30C8B7E1-8674-4730-B2C8-AEA6B080A4AC}</a:tableStyleId>
              </a:tblPr>
              <a:tblGrid>
                <a:gridCol w="93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1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1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20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20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LegalBench</a:t>
                      </a: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-RAG: A Benchmark for Retrieval-Augmented Generation in the Legal Domain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Nicholas Pipitone, Ghita </a:t>
                      </a: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Houir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Alami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arXiv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/ </a:t>
                      </a: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Evaluates legal RAG retrieval and emphasizes retrieving precise, relevant legal evidence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Hallucination-Free? Assessing the Reliability of Leading AI Legal Research Tools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Varun Magesh, Faiz Surani, Matthew Dahl, Mirac </a:t>
                      </a: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Suzgun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Christopher D. Manning, Daniel E. Ho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arXiv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preprint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Shows that even RAG-based legal AI can hallucinate, supporting the need for your evidence verification approach.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AILQA: Evaluating AI-driven Legal Question Answering Systems for the Indian Legal System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authors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Artificial Intelligence and Law – Springer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Directly relevant to Indian legal QA and evaluates RAG, embeddings and LLMs for Indian legal information.</a:t>
                      </a:r>
                      <a:endParaRPr sz="16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193325" y="1601133"/>
            <a:ext cx="115398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lnSpc>
                <a:spcPct val="10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600" b="0" dirty="0">
                <a:latin typeface="Calibri"/>
                <a:ea typeface="Calibri"/>
                <a:cs typeface="Calibri"/>
                <a:sym typeface="Calibri"/>
              </a:rPr>
              <a:t>Existing studies show RAG improves legal information retrieval from large documents.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600" b="0" dirty="0">
                <a:latin typeface="Calibri"/>
                <a:ea typeface="Calibri"/>
                <a:cs typeface="Calibri"/>
                <a:sym typeface="Calibri"/>
              </a:rPr>
              <a:t>Research shows that legal AI can still generate hallucinated or unsupported answers.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600" b="0" dirty="0">
                <a:latin typeface="Calibri"/>
                <a:ea typeface="Calibri"/>
                <a:cs typeface="Calibri"/>
                <a:sym typeface="Calibri"/>
              </a:rPr>
              <a:t>Recent work applies RAG and LLMs to Indian legal question answering.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600" b="0" dirty="0">
                <a:latin typeface="Calibri"/>
                <a:ea typeface="Calibri"/>
                <a:cs typeface="Calibri"/>
                <a:sym typeface="Calibri"/>
              </a:rPr>
              <a:t>Existing systems have limited focus on combining legal authority with evidence verification.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600" b="0" dirty="0">
                <a:latin typeface="Calibri"/>
                <a:ea typeface="Calibri"/>
                <a:cs typeface="Calibri"/>
                <a:sym typeface="Calibri"/>
              </a:rPr>
              <a:t>LEX-RAG addresses this gap using Authority-Aware Ranking + Claim-Level NLI Verification.</a:t>
            </a:r>
            <a:endParaRPr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55996" y="467367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>
            <a:off x="458875" y="1113867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0" name="Google Shape;110;p20"/>
          <p:cNvSpPr txBox="1"/>
          <p:nvPr/>
        </p:nvSpPr>
        <p:spPr>
          <a:xfrm>
            <a:off x="4111775" y="57025"/>
            <a:ext cx="808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609100" cy="47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Language: Python</a:t>
            </a:r>
          </a:p>
          <a:p>
            <a:pPr marL="508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Dataset: Open India Law – Hugging Face</a:t>
            </a:r>
          </a:p>
          <a:p>
            <a:pPr marL="508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Retrieval: BM25 + Sentence Transformers</a:t>
            </a:r>
          </a:p>
          <a:p>
            <a:pPr marL="508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Fusion: Reciprocal Rank Fusion (RRF)</a:t>
            </a:r>
          </a:p>
          <a:p>
            <a:pPr marL="508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Reranking: Cross-Encoder</a:t>
            </a:r>
          </a:p>
          <a:p>
            <a:pPr marL="508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LLM: </a:t>
            </a:r>
            <a:r>
              <a:rPr lang="en-IN" sz="2600" b="0" dirty="0" err="1">
                <a:latin typeface="Calibri"/>
                <a:ea typeface="Calibri"/>
                <a:cs typeface="Calibri"/>
                <a:sym typeface="Calibri"/>
              </a:rPr>
              <a:t>Nemotron</a:t>
            </a: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 3.5 Lightning via </a:t>
            </a:r>
            <a:r>
              <a:rPr lang="en-IN" sz="2600" b="0" dirty="0" err="1">
                <a:latin typeface="Calibri"/>
                <a:ea typeface="Calibri"/>
                <a:cs typeface="Calibri"/>
                <a:sym typeface="Calibri"/>
              </a:rPr>
              <a:t>OpenRouter</a:t>
            </a: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Verification: DeBERTa-v3 NLI</a:t>
            </a:r>
          </a:p>
          <a:p>
            <a:pPr marL="508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Interface: </a:t>
            </a:r>
            <a:r>
              <a:rPr lang="en-IN" sz="2600" b="0" dirty="0" err="1"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Evaluation: Recall, Grounding Score, Supported Claim Rate</a:t>
            </a:r>
            <a:endParaRPr sz="2600"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8" name="Google Shape;118;p21"/>
          <p:cNvSpPr txBox="1"/>
          <p:nvPr/>
        </p:nvSpPr>
        <p:spPr>
          <a:xfrm>
            <a:off x="3666303" y="0"/>
            <a:ext cx="85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Dataset Module –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Loads Indian court judgments.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Retrieval Module –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BM25 + Dense Retrieval.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Ranking Module –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RRF + Cross-Encoder ranking.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Authority Module –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Ranks reliable legal evidence.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Generation Module –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Generates legal answers using LLM.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Verification Module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– Verifies claims using NLI.</a:t>
            </a:r>
            <a:endParaRPr b="0" dirty="0"/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6" name="Google Shape;126;p22"/>
          <p:cNvSpPr txBox="1"/>
          <p:nvPr/>
        </p:nvSpPr>
        <p:spPr>
          <a:xfrm>
            <a:off x="4263500" y="57025"/>
            <a:ext cx="79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256000" y="1271275"/>
            <a:ext cx="11430000" cy="4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Faster legal research from Indian judgments.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Accurate retrieval of relevant legal evidence.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Reliable answers with authority-aware ranking.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Reduced hallucinations through claim verification.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Improved grounding of AI-generated legal answers.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solidFill>
                <a:srgbClr val="1C3898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34" name="Google Shape;134;p23"/>
          <p:cNvSpPr txBox="1"/>
          <p:nvPr/>
        </p:nvSpPr>
        <p:spPr>
          <a:xfrm>
            <a:off x="2685554" y="57025"/>
            <a:ext cx="95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ServiceSense AI - Customer Complaint Classification &amp; Resolution Intelligence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4"/>
            <a:ext cx="3033000" cy="4050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CreditAgent</a:t>
            </a:r>
            <a:r>
              <a:rPr lang="en-GB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AI: Agentic AI-Based Credit Risk Assessment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GB" sz="36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GB"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T9969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THARUNEESH 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 K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(251011017)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 (2025-2027)</a:t>
            </a: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  <a:tableStyleId>{7A6AE9A8-6298-4076-9231-B7FAEA5409DA}</a:tableStyleId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851800" cy="4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risk assessment helps banks identify whether a customer may repay a loan properly or become risky.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methods may depend on fixed rules, so this project uses Machine Learning to improve risk prediction.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compares Logistic Regression, Random Forest, and Gradient Boosting to select the best-performing model.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LangGraph</a:t>
            </a: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-based Agentic AI is used to coordinate different agents for validation, prediction, cost analysis, explanation, and final human-review recommendation.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4354525" y="0"/>
            <a:ext cx="7837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ServiceSense AI - Customer Complaint Classification &amp; Resolution Intelligence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255996" y="1081627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an Agentic AI-based Credit Risk Assessment System.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Compare Logistic Regression, Random Forest and Gradient Boosting for credit risk prediction.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Use Cross-Validation and Hyperparameter Tuning to select the best-performing model.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 </a:t>
            </a:r>
            <a:r>
              <a:rPr lang="en-IN" sz="2200" b="0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multi-agent framework for validation, risk prediction, cost analysis, explanation and decision support.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Evaluate the system using Accuracy, Precision, Recall, F1-Score and Cost-Sensitive Evaluation.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sz="2200" b="0" dirty="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84" name="Google Shape;84;p17"/>
          <p:cNvSpPr txBox="1"/>
          <p:nvPr/>
        </p:nvSpPr>
        <p:spPr>
          <a:xfrm>
            <a:off x="1001399" y="57025"/>
            <a:ext cx="1119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ServiceSense AI - Customer Complaint Classification &amp; Resolution Intelligence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55996" y="1234468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Focus on credit risk assessment using the German Credit dataset.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Support customer-wise Good Credit and Bad Credit risk prediction.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Compare Logistic Regression, Random Forest and Gradient Boosting to select the best model.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Use </a:t>
            </a:r>
            <a:r>
              <a:rPr lang="en-GB" sz="2200" b="0" dirty="0" err="1"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 multi-agent workflow for validation, prediction, cost analysis, explanation and decision support.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Evaluate the system using Accuracy, Precision, Recall, F1-Score and Cost-Sensitive Evaluation.</a:t>
            </a:r>
            <a:endParaRPr sz="22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3110378" y="57025"/>
            <a:ext cx="908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9" name="Google Shape;99;p19"/>
          <p:cNvSpPr txBox="1"/>
          <p:nvPr/>
        </p:nvSpPr>
        <p:spPr>
          <a:xfrm>
            <a:off x="4237477" y="0"/>
            <a:ext cx="773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412450" y="2594500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-1668975" y="3717275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19"/>
          <p:cNvGraphicFramePr/>
          <p:nvPr>
            <p:extLst>
              <p:ext uri="{D42A27DB-BD31-4B8C-83A1-F6EECF244321}">
                <p14:modId xmlns:p14="http://schemas.microsoft.com/office/powerpoint/2010/main" val="3874421932"/>
              </p:ext>
            </p:extLst>
          </p:nvPr>
        </p:nvGraphicFramePr>
        <p:xfrm>
          <a:off x="408037" y="1149045"/>
          <a:ext cx="11016600" cy="4482600"/>
        </p:xfrm>
        <a:graphic>
          <a:graphicData uri="http://schemas.openxmlformats.org/drawingml/2006/table">
            <a:tbl>
              <a:tblPr>
                <a:noFill/>
                <a:tableStyleId>{30C8B7E1-8674-4730-B2C8-AEA6B080A4AC}</a:tableStyleId>
              </a:tblPr>
              <a:tblGrid>
                <a:gridCol w="8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20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Explainable Machine Learning Models for Credit Scoring for Risk Forecasting in Big Financial Datasets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IEEE Xplore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(IC3ECSBHI)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+ XAI credit scoring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Explainable Artificial Intelligence for Loan Approval and Credit Risk Assessment: A Comprehensive Review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IEEE Xplore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ICPCSN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Explainable credit risk assessment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Demystifying Black-Box Credit Scoring Models Through Glass-Box Interpretability: A Random Forest and XAI Framework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IEEE Xplore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ICCIST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+ German Credit + XAI</a:t>
                      </a:r>
                      <a:endParaRPr sz="16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255996" y="986412"/>
            <a:ext cx="115398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Existing studies show Machine Learning can effectively predict credit risk using customer financial data.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Studies commonly compare Logistic Regression, Random Forest and boosting models for credit classification.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Recent research uses Explainable AI (XAI) to make credit-risk predictions more understandable.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Existing approaches have limited integration of cost-sensitive prediction and multi-agent decision support.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-GB" sz="2200" b="0" dirty="0" err="1">
                <a:latin typeface="Calibri"/>
                <a:ea typeface="Calibri"/>
                <a:cs typeface="Calibri"/>
                <a:sym typeface="Calibri"/>
              </a:rPr>
              <a:t>CreditAgent</a:t>
            </a: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 AI addresses this gap using model comparison, threshold optimization and </a:t>
            </a:r>
            <a:r>
              <a:rPr lang="en-GB" sz="2200" b="0" dirty="0" err="1"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-based Agentic AI.</a:t>
            </a:r>
            <a:endParaRPr sz="22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>
            <a:off x="255996" y="1149045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0" name="Google Shape;110;p20"/>
          <p:cNvSpPr txBox="1"/>
          <p:nvPr/>
        </p:nvSpPr>
        <p:spPr>
          <a:xfrm>
            <a:off x="4111775" y="57025"/>
            <a:ext cx="808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609100" cy="47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Programming Language: Python</a:t>
            </a: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Frontend: </a:t>
            </a:r>
            <a:r>
              <a:rPr lang="en-IN" sz="2600" b="0" dirty="0" err="1"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Machine Learning: Scikit-learn</a:t>
            </a: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Models: Logistic Regression, Random Forest, Gradient Boosting</a:t>
            </a: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 Processing: Pandas, NumPy</a:t>
            </a: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Agentic AI: </a:t>
            </a:r>
            <a:r>
              <a:rPr lang="en-IN" sz="2600" b="0" dirty="0" err="1"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Model Validation: 5-Fold Cross-Validation, </a:t>
            </a:r>
            <a:r>
              <a:rPr lang="en-IN" sz="2600" b="0" dirty="0" err="1">
                <a:latin typeface="Calibri"/>
                <a:ea typeface="Calibri"/>
                <a:cs typeface="Calibri"/>
                <a:sym typeface="Calibri"/>
              </a:rPr>
              <a:t>GridSearchCV</a:t>
            </a: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Optimization: Hyperparameter Tuning + Threshold Optimization</a:t>
            </a: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Dataset: UCI German Credit Dataset</a:t>
            </a: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Deployment: Local </a:t>
            </a:r>
            <a:r>
              <a:rPr lang="en-IN" sz="2600" b="0" dirty="0" err="1">
                <a:latin typeface="Calibri"/>
                <a:ea typeface="Calibri"/>
                <a:cs typeface="Calibri"/>
                <a:sym typeface="Calibri"/>
              </a:rPr>
              <a:t>Streamlit</a:t>
            </a: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 Application</a:t>
            </a:r>
            <a:endParaRPr sz="2600"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8" name="Google Shape;118;p21"/>
          <p:cNvSpPr txBox="1"/>
          <p:nvPr/>
        </p:nvSpPr>
        <p:spPr>
          <a:xfrm>
            <a:off x="3666303" y="0"/>
            <a:ext cx="85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Dataset Module – </a:t>
            </a:r>
            <a:r>
              <a:rPr lang="en-IN" sz="2200" b="0" dirty="0"/>
              <a:t>Loads and prepares the German Credit dataset.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Preprocessing Module – </a:t>
            </a:r>
            <a:r>
              <a:rPr lang="en-IN" sz="2200" b="0" dirty="0"/>
              <a:t>Handles categorical and numerical credit features.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Model Module – </a:t>
            </a:r>
            <a:r>
              <a:rPr lang="en-IN" sz="2200" b="0" dirty="0"/>
              <a:t>Compares Logistic Regression, Random Forest and Gradient Boosting.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Optimization Module – </a:t>
            </a:r>
            <a:r>
              <a:rPr lang="en-IN" sz="2200" b="0" dirty="0"/>
              <a:t>Uses Cross-Validation, Hyperparameter Tuning and Threshold Optimization.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Agentic AI Module – </a:t>
            </a:r>
            <a:r>
              <a:rPr lang="en-IN" sz="2200" b="0" dirty="0"/>
              <a:t>Uses </a:t>
            </a:r>
            <a:r>
              <a:rPr lang="en-IN" sz="2200" b="0" dirty="0" err="1"/>
              <a:t>LangGraph</a:t>
            </a:r>
            <a:r>
              <a:rPr lang="en-IN" sz="2200" b="0" dirty="0"/>
              <a:t> to coordinate the six credit-risk agents.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Decision Module – </a:t>
            </a:r>
            <a:r>
              <a:rPr lang="en-IN" sz="2200" b="0" dirty="0"/>
              <a:t>Provides risk prediction, explanation, cost analysis and human-review recommendation.</a:t>
            </a:r>
            <a:endParaRPr sz="2200" b="0" dirty="0"/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6" name="Google Shape;126;p22"/>
          <p:cNvSpPr txBox="1"/>
          <p:nvPr/>
        </p:nvSpPr>
        <p:spPr>
          <a:xfrm>
            <a:off x="4263500" y="57025"/>
            <a:ext cx="79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256000" y="1271275"/>
            <a:ext cx="11430000" cy="4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Achieve reliable credit risk prediction using customer financial data.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Identify the best-performing ML model through model comparison.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Improve performance using Cross-Validation and Threshold Optimization.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Generate Good Credit / Bad Credit risk predictions with explanations.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Provide </a:t>
            </a:r>
            <a:r>
              <a:rPr lang="en-GB" sz="2600" dirty="0" err="1">
                <a:solidFill>
                  <a:srgbClr val="1C3898"/>
                </a:solidFill>
              </a:rPr>
              <a:t>LangGraph</a:t>
            </a:r>
            <a:r>
              <a:rPr lang="en-GB" sz="2600" dirty="0">
                <a:solidFill>
                  <a:srgbClr val="1C3898"/>
                </a:solidFill>
              </a:rPr>
              <a:t>-based Agentic AI decision support for human credit review.</a:t>
            </a:r>
            <a:endParaRPr sz="2600" dirty="0">
              <a:solidFill>
                <a:srgbClr val="1C3898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34" name="Google Shape;134;p23"/>
          <p:cNvSpPr txBox="1"/>
          <p:nvPr/>
        </p:nvSpPr>
        <p:spPr>
          <a:xfrm>
            <a:off x="2685554" y="57025"/>
            <a:ext cx="95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ServiceSense AI - Customer Complaint Classification &amp; Resolution Intelligence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1409</Words>
  <Application>Microsoft Office PowerPoint</Application>
  <PresentationFormat>Widescreen</PresentationFormat>
  <Paragraphs>200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Tharuneesh G K</dc:creator>
  <cp:lastModifiedBy>Tharuneesh G K</cp:lastModifiedBy>
  <cp:revision>3</cp:revision>
  <dcterms:modified xsi:type="dcterms:W3CDTF">2026-09-15T04:19:49Z</dcterms:modified>
</cp:coreProperties>
</file>