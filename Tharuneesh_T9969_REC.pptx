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986DDA-A9A8-4077-962A-CF5466ED78C8}" v="444" dt="2026-08-27T15:33:10.101"/>
    <p1510:client id="{C4E22A53-4454-4B33-9D13-877C0EE646C1}" v="21" dt="2026-08-27T17:54:51.1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7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24835" y="1985175"/>
            <a:ext cx="10362895" cy="3416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2000">
                <a:solidFill>
                  <a:srgbClr val="E6F0FA"/>
                </a:solidFill>
                <a:latin typeface="Calibri"/>
              </a:defRPr>
            </a:pPr>
            <a:r>
              <a:rPr lang="en-US" sz="2400" dirty="0">
                <a:latin typeface="Times New Roman"/>
                <a:ea typeface="Calibri"/>
                <a:cs typeface="Times New Roman"/>
              </a:rPr>
              <a:t>Name: </a:t>
            </a:r>
            <a:r>
              <a:rPr lang="en-US" sz="2400" dirty="0" err="1">
                <a:latin typeface="Times New Roman"/>
                <a:ea typeface="Calibri"/>
                <a:cs typeface="Times New Roman"/>
              </a:rPr>
              <a:t>Tharuneesh</a:t>
            </a:r>
            <a:r>
              <a:rPr lang="en-US" sz="2400" dirty="0">
                <a:latin typeface="Times New Roman"/>
                <a:ea typeface="Calibri"/>
                <a:cs typeface="Times New Roman"/>
              </a:rPr>
              <a:t> G K</a:t>
            </a:r>
          </a:p>
          <a:p>
            <a:pPr algn="ctr">
              <a:defRPr sz="2000">
                <a:solidFill>
                  <a:srgbClr val="E6F0FA"/>
                </a:solidFill>
                <a:latin typeface="Calibri"/>
              </a:defRPr>
            </a:pPr>
            <a:endParaRPr lang="en-US" sz="2400" dirty="0">
              <a:latin typeface="Times New Roman"/>
              <a:ea typeface="Calibri"/>
              <a:cs typeface="Times New Roman"/>
            </a:endParaRPr>
          </a:p>
          <a:p>
            <a:pPr algn="ctr">
              <a:defRPr sz="2000">
                <a:solidFill>
                  <a:srgbClr val="E6F0FA"/>
                </a:solidFill>
                <a:latin typeface="Calibri"/>
              </a:defRPr>
            </a:pPr>
            <a:r>
              <a:rPr lang="en-US" sz="2400" dirty="0" err="1">
                <a:latin typeface="Times New Roman"/>
                <a:ea typeface="Calibri"/>
                <a:cs typeface="Times New Roman"/>
              </a:rPr>
              <a:t>Reg_no</a:t>
            </a:r>
            <a:r>
              <a:rPr lang="en-US" sz="2400" dirty="0">
                <a:latin typeface="Times New Roman"/>
                <a:ea typeface="Calibri"/>
                <a:cs typeface="Times New Roman"/>
              </a:rPr>
              <a:t>: 251011017</a:t>
            </a:r>
          </a:p>
          <a:p>
            <a:pPr algn="ctr">
              <a:defRPr sz="2000">
                <a:solidFill>
                  <a:srgbClr val="E6F0FA"/>
                </a:solidFill>
                <a:latin typeface="Calibri"/>
              </a:defRPr>
            </a:pPr>
            <a:endParaRPr lang="en-US" sz="2400" dirty="0">
              <a:latin typeface="Times New Roman"/>
              <a:ea typeface="Calibri"/>
              <a:cs typeface="Times New Roman"/>
            </a:endParaRPr>
          </a:p>
          <a:p>
            <a:pPr algn="ctr">
              <a:defRPr sz="2000">
                <a:solidFill>
                  <a:srgbClr val="E6F0FA"/>
                </a:solidFill>
                <a:latin typeface="Calibri"/>
              </a:defRPr>
            </a:pPr>
            <a:r>
              <a:rPr lang="en-US" sz="2400" dirty="0" err="1">
                <a:latin typeface="Times New Roman"/>
                <a:ea typeface="Calibri"/>
                <a:cs typeface="Times New Roman"/>
              </a:rPr>
              <a:t>College_Name</a:t>
            </a:r>
            <a:r>
              <a:rPr lang="en-US" sz="2400" dirty="0">
                <a:latin typeface="Times New Roman"/>
                <a:ea typeface="Calibri"/>
                <a:cs typeface="Times New Roman"/>
              </a:rPr>
              <a:t>: Rajalakshmi Engineering College</a:t>
            </a:r>
          </a:p>
          <a:p>
            <a:pPr algn="ctr">
              <a:defRPr sz="2000">
                <a:solidFill>
                  <a:srgbClr val="E6F0FA"/>
                </a:solidFill>
                <a:latin typeface="Calibri"/>
              </a:defRPr>
            </a:pPr>
            <a:endParaRPr lang="en-US" sz="2400" dirty="0">
              <a:latin typeface="Times New Roman"/>
              <a:ea typeface="Calibri"/>
              <a:cs typeface="Times New Roman"/>
            </a:endParaRPr>
          </a:p>
          <a:p>
            <a:pPr algn="ctr">
              <a:defRPr sz="2000">
                <a:solidFill>
                  <a:srgbClr val="E6F0FA"/>
                </a:solidFill>
                <a:latin typeface="Calibri"/>
              </a:defRPr>
            </a:pPr>
            <a:endParaRPr lang="en-US" sz="2400" dirty="0">
              <a:latin typeface="Times New Roman"/>
              <a:ea typeface="Calibri"/>
              <a:cs typeface="Times New Roman"/>
            </a:endParaRPr>
          </a:p>
          <a:p>
            <a:pPr algn="ctr">
              <a:defRPr sz="2000">
                <a:solidFill>
                  <a:srgbClr val="E6F0FA"/>
                </a:solidFill>
                <a:latin typeface="Calibri"/>
              </a:defRPr>
            </a:pPr>
            <a:endParaRPr lang="en-US" sz="2400" dirty="0">
              <a:latin typeface="Times New Roman"/>
              <a:ea typeface="Calibri"/>
              <a:cs typeface="Times New Roman"/>
            </a:endParaRPr>
          </a:p>
          <a:p>
            <a:pPr algn="ctr">
              <a:defRPr sz="2000">
                <a:solidFill>
                  <a:srgbClr val="E6F0FA"/>
                </a:solidFill>
                <a:latin typeface="Calibri"/>
              </a:defRPr>
            </a:pPr>
            <a:r>
              <a:rPr lang="en-US" sz="2400">
                <a:latin typeface="Times New Roman"/>
                <a:ea typeface="Calibri"/>
                <a:cs typeface="Times New Roman"/>
              </a:rPr>
              <a:t>Zeroth Review</a:t>
            </a:r>
            <a:endParaRPr lang="en-US" sz="2400" dirty="0"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4741" y="274638"/>
            <a:ext cx="10052221" cy="1143000"/>
          </a:xfrm>
        </p:spPr>
        <p:txBody>
          <a:bodyPr/>
          <a:lstStyle/>
          <a:p>
            <a:pPr>
              <a:defRPr sz="2800" b="1">
                <a:solidFill>
                  <a:srgbClr val="0F3769"/>
                </a:solidFill>
                <a:latin typeface="Calibri"/>
              </a:defRPr>
            </a:pPr>
            <a:r>
              <a:rPr>
                <a:latin typeface="Times New Roman"/>
                <a:cs typeface="Times New Roman"/>
              </a:rPr>
              <a:t>Project 1: LEX RAG AI–Based Legal Research Assistant</a:t>
            </a:r>
            <a:endParaRPr lang="en-US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7119" y="1713471"/>
            <a:ext cx="9897762" cy="452596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  <a:defRPr sz="1800" b="1">
                <a:solidFill>
                  <a:srgbClr val="1E1E1E"/>
                </a:solidFill>
                <a:latin typeface="Calibri"/>
              </a:defRPr>
            </a:pPr>
            <a:r>
              <a:rPr sz="1800">
                <a:latin typeface="Times New Roman"/>
                <a:cs typeface="Times New Roman"/>
              </a:rPr>
              <a:t>Problem Statement</a:t>
            </a:r>
            <a:endParaRPr lang="en-US" sz="1800">
              <a:latin typeface="Times New Roman"/>
              <a:ea typeface="Calibri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r>
              <a:rPr lang="en-US" sz="1800">
                <a:latin typeface="Times New Roman"/>
                <a:ea typeface="+mn-lt"/>
                <a:cs typeface="Times New Roman"/>
              </a:rPr>
              <a:t>Legal research is time-consuming due to fragmented case laws. </a:t>
            </a:r>
            <a:endParaRPr sz="1800">
              <a:latin typeface="Times New Roman"/>
              <a:ea typeface="+mn-lt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r>
              <a:rPr lang="en-US" sz="1800">
                <a:latin typeface="Times New Roman"/>
                <a:ea typeface="+mn-lt"/>
                <a:cs typeface="Times New Roman"/>
              </a:rPr>
              <a:t>Finding relevant precedents and statutes requires manual effort. </a:t>
            </a:r>
            <a:endParaRPr lang="en-US" sz="1800">
              <a:latin typeface="Times New Roman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r>
              <a:rPr lang="en-US" sz="1800">
                <a:latin typeface="Times New Roman"/>
                <a:ea typeface="+mn-lt"/>
                <a:cs typeface="Times New Roman"/>
              </a:rPr>
              <a:t>Dense legal language makes information retrieval difficult.</a:t>
            </a:r>
            <a:endParaRPr lang="en-US" sz="1800">
              <a:latin typeface="Times New Roman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endParaRPr lang="en-US" sz="1800" dirty="0">
              <a:latin typeface="Times New Roman"/>
              <a:ea typeface="+mn-lt"/>
              <a:cs typeface="Times New Roman"/>
            </a:endParaRPr>
          </a:p>
          <a:p>
            <a:pPr marL="0" indent="0" algn="just">
              <a:buNone/>
              <a:defRPr sz="1800" b="1">
                <a:solidFill>
                  <a:srgbClr val="1E1E1E"/>
                </a:solidFill>
                <a:latin typeface="Calibri"/>
              </a:defRPr>
            </a:pPr>
            <a:r>
              <a:rPr sz="1800">
                <a:latin typeface="Times New Roman"/>
                <a:cs typeface="Times New Roman"/>
              </a:rPr>
              <a:t>Objectives</a:t>
            </a:r>
            <a:endParaRPr lang="en-US" sz="1800">
              <a:latin typeface="Times New Roman"/>
              <a:ea typeface="Calibri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r>
              <a:rPr lang="en-US" sz="1800">
                <a:latin typeface="Times New Roman"/>
                <a:ea typeface="+mn-lt"/>
                <a:cs typeface="Times New Roman"/>
              </a:rPr>
              <a:t>Implement BM25 + dense embedding retrieval with reranking. </a:t>
            </a: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r>
              <a:rPr lang="en-US" sz="1800">
                <a:latin typeface="Times New Roman"/>
                <a:ea typeface="+mn-lt"/>
                <a:cs typeface="Times New Roman"/>
              </a:rPr>
              <a:t>Build a legal RAG pipeline with structured judgment chunking. </a:t>
            </a:r>
            <a:endParaRPr sz="1800">
              <a:latin typeface="Times New Roman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r>
              <a:rPr lang="en-US" sz="1800">
                <a:latin typeface="Times New Roman"/>
                <a:ea typeface="+mn-lt"/>
                <a:cs typeface="Times New Roman"/>
              </a:rPr>
              <a:t>Generate citation-grounded answers using an instruction-tuned LLM.</a:t>
            </a:r>
            <a:endParaRPr sz="1800">
              <a:latin typeface="Times New Roman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endParaRPr sz="1800" dirty="0"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903" y="274638"/>
            <a:ext cx="8229600" cy="1143000"/>
          </a:xfrm>
        </p:spPr>
        <p:txBody>
          <a:bodyPr/>
          <a:lstStyle/>
          <a:p>
            <a:pPr>
              <a:defRPr sz="2800" b="1">
                <a:solidFill>
                  <a:srgbClr val="0F3769"/>
                </a:solidFill>
                <a:latin typeface="Calibri"/>
              </a:defRPr>
            </a:pPr>
            <a:r>
              <a:rPr>
                <a:latin typeface="Times New Roman"/>
                <a:cs typeface="Times New Roman"/>
              </a:rPr>
              <a:t>Project 1: Dataset, Technical Stack &amp;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5335" y="1414849"/>
            <a:ext cx="10011032" cy="452596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  <a:defRPr sz="1800" b="1">
                <a:solidFill>
                  <a:srgbClr val="1E1E1E"/>
                </a:solidFill>
                <a:latin typeface="Calibri"/>
              </a:defRPr>
            </a:pPr>
            <a:r>
              <a:rPr sz="1800">
                <a:latin typeface="Times New Roman"/>
                <a:cs typeface="Times New Roman"/>
              </a:rPr>
              <a:t>Dataset</a:t>
            </a:r>
            <a:endParaRPr lang="en-US" sz="1800">
              <a:latin typeface="Times New Roman"/>
              <a:ea typeface="Calibri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r>
              <a:rPr lang="en-US" sz="1800">
                <a:latin typeface="Times New Roman"/>
                <a:ea typeface="+mn-lt"/>
                <a:cs typeface="Times New Roman"/>
              </a:rPr>
              <a:t>Indian Supreme Court &amp; High Court Judgments 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r>
              <a:rPr lang="en-US" sz="1800">
                <a:latin typeface="Times New Roman"/>
                <a:ea typeface="+mn-lt"/>
                <a:cs typeface="Times New Roman"/>
              </a:rPr>
              <a:t>Statutes, Rules &amp; Legal Notifications </a:t>
            </a:r>
            <a:endParaRPr sz="1800">
              <a:latin typeface="Times New Roman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r>
              <a:rPr lang="en-US" sz="1800">
                <a:latin typeface="Times New Roman"/>
                <a:ea typeface="+mn-lt"/>
                <a:cs typeface="Times New Roman"/>
              </a:rPr>
              <a:t>Metadata: Case names, Bench, Citations, Sections &amp; CNR </a:t>
            </a:r>
            <a:endParaRPr lang="en-US" sz="1800">
              <a:latin typeface="Times New Roman"/>
              <a:cs typeface="Times New Roman"/>
            </a:endParaRPr>
          </a:p>
          <a:p>
            <a:pPr marL="0" indent="0" algn="just">
              <a:buNone/>
              <a:defRPr sz="1800" b="1">
                <a:solidFill>
                  <a:srgbClr val="1E1E1E"/>
                </a:solidFill>
                <a:latin typeface="Calibri"/>
              </a:defRPr>
            </a:pPr>
            <a:r>
              <a:rPr sz="1800">
                <a:latin typeface="Times New Roman"/>
                <a:cs typeface="Times New Roman"/>
              </a:rPr>
              <a:t>Technical Stack</a:t>
            </a:r>
            <a:endParaRPr sz="1800">
              <a:latin typeface="Times New Roman"/>
              <a:ea typeface="Calibri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r>
              <a:rPr lang="en-US" sz="1800">
                <a:latin typeface="Times New Roman"/>
                <a:ea typeface="+mn-lt"/>
                <a:cs typeface="Times New Roman"/>
              </a:rPr>
              <a:t>Data: Indian Supreme Court &amp; High Court Judgments, Statutes</a:t>
            </a:r>
            <a:endParaRPr lang="en-US" sz="1800" dirty="0">
              <a:latin typeface="Times New Roman"/>
              <a:ea typeface="+mn-lt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r>
              <a:rPr lang="en-US" sz="1800">
                <a:latin typeface="Times New Roman"/>
                <a:ea typeface="+mn-lt"/>
                <a:cs typeface="Times New Roman"/>
              </a:rPr>
              <a:t>Retrieval: BM25 + Dense Embeddings</a:t>
            </a:r>
            <a:endParaRPr lang="en-US" sz="1800">
              <a:latin typeface="Times New Roman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Vector Store: </a:t>
            </a:r>
            <a:r>
              <a:rPr lang="en-US" sz="1800" dirty="0" err="1">
                <a:latin typeface="Times New Roman"/>
                <a:ea typeface="+mn-lt"/>
                <a:cs typeface="Times New Roman"/>
              </a:rPr>
              <a:t>ChromaDB</a:t>
            </a:r>
            <a:endParaRPr lang="en-US" sz="1800">
              <a:latin typeface="Times New Roman"/>
              <a:ea typeface="+mn-lt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LLM: Mistral / </a:t>
            </a:r>
            <a:r>
              <a:rPr lang="en-US" sz="1800" dirty="0" err="1">
                <a:latin typeface="Times New Roman"/>
                <a:ea typeface="+mn-lt"/>
                <a:cs typeface="Times New Roman"/>
              </a:rPr>
              <a:t>Mixtral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 family</a:t>
            </a:r>
            <a:endParaRPr lang="en-US" sz="1800">
              <a:latin typeface="Times New Roman"/>
              <a:ea typeface="+mn-lt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Backend: Python, </a:t>
            </a:r>
            <a:r>
              <a:rPr lang="en-US" sz="1800" dirty="0" err="1">
                <a:latin typeface="Times New Roman"/>
                <a:ea typeface="+mn-lt"/>
                <a:cs typeface="Times New Roman"/>
              </a:rPr>
              <a:t>FastAPI</a:t>
            </a:r>
            <a:endParaRPr lang="en-US" sz="1800">
              <a:latin typeface="Times New Roman"/>
              <a:ea typeface="+mn-lt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r>
              <a:rPr lang="en-US" sz="1800">
                <a:latin typeface="Times New Roman"/>
                <a:ea typeface="+mn-lt"/>
                <a:cs typeface="Times New Roman"/>
              </a:rPr>
              <a:t>Deployment: Docker</a:t>
            </a:r>
            <a:endParaRPr lang="en-US" sz="1800" dirty="0">
              <a:latin typeface="Times New Roman"/>
              <a:ea typeface="+mn-lt"/>
              <a:cs typeface="Times New Roman"/>
            </a:endParaRPr>
          </a:p>
          <a:p>
            <a:pPr marL="0" indent="0" algn="just">
              <a:buNone/>
              <a:defRPr sz="1800">
                <a:solidFill>
                  <a:srgbClr val="3C3C3C"/>
                </a:solidFill>
                <a:latin typeface="Calibri"/>
              </a:defRPr>
            </a:pPr>
            <a:r>
              <a:rPr sz="1800" b="1">
                <a:latin typeface="Times New Roman"/>
                <a:cs typeface="Times New Roman"/>
              </a:rPr>
              <a:t>Expected Outcomes</a:t>
            </a: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r>
              <a:rPr lang="en-US" sz="1800">
                <a:latin typeface="Times New Roman"/>
                <a:ea typeface="+mn-lt"/>
                <a:cs typeface="Times New Roman"/>
              </a:rPr>
              <a:t>Relevant legal passages and precedents. </a:t>
            </a:r>
            <a:endParaRPr lang="en-US" sz="1800">
              <a:latin typeface="Times New Roman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r>
              <a:rPr lang="en-US" sz="1800">
                <a:latin typeface="Times New Roman"/>
                <a:ea typeface="+mn-lt"/>
                <a:cs typeface="Times New Roman"/>
              </a:rPr>
              <a:t>Citation-grounded legal answers. </a:t>
            </a:r>
            <a:endParaRPr lang="en-US" sz="1800">
              <a:latin typeface="Times New Roman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r>
              <a:rPr lang="en-US" sz="1800">
                <a:latin typeface="Times New Roman"/>
                <a:ea typeface="+mn-lt"/>
                <a:cs typeface="Times New Roman"/>
              </a:rPr>
              <a:t>Improved retrieval precision and answer faithfulness. </a:t>
            </a:r>
            <a:endParaRPr lang="en-US" sz="1800">
              <a:latin typeface="Times New Roman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endParaRPr lang="en-US" sz="1600" dirty="0"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768" y="346719"/>
            <a:ext cx="11792465" cy="1143000"/>
          </a:xfrm>
        </p:spPr>
        <p:txBody>
          <a:bodyPr/>
          <a:lstStyle/>
          <a:p>
            <a:pPr>
              <a:defRPr sz="2800" b="1">
                <a:solidFill>
                  <a:srgbClr val="0F3769"/>
                </a:solidFill>
                <a:latin typeface="Calibri"/>
              </a:defRPr>
            </a:pPr>
            <a:r>
              <a:rPr>
                <a:latin typeface="Times New Roman"/>
                <a:cs typeface="Times New Roman"/>
              </a:rPr>
              <a:t>Project 2: Credit Agent – Agentic AI for Credit 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1743" y="1713471"/>
            <a:ext cx="10227275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  <a:defRPr sz="1800" b="1">
                <a:solidFill>
                  <a:srgbClr val="1E1E1E"/>
                </a:solidFill>
                <a:latin typeface="Calibri"/>
              </a:defRPr>
            </a:pPr>
            <a:r>
              <a:rPr sz="1800">
                <a:latin typeface="Times New Roman"/>
                <a:cs typeface="Times New Roman"/>
              </a:rPr>
              <a:t>Problem Statement</a:t>
            </a:r>
            <a:endParaRPr lang="en-US" sz="1800">
              <a:latin typeface="Times New Roman"/>
              <a:ea typeface="Calibri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r>
              <a:rPr lang="en-US" sz="1800">
                <a:latin typeface="Times New Roman"/>
                <a:ea typeface="+mn-lt"/>
                <a:cs typeface="Times New Roman"/>
              </a:rPr>
              <a:t>Traditional credit assessment depends on static rules and manual underwriting. 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r>
              <a:rPr lang="en-US" sz="1800">
                <a:latin typeface="Times New Roman"/>
                <a:ea typeface="+mn-lt"/>
                <a:cs typeface="Times New Roman"/>
              </a:rPr>
              <a:t>Important financial patterns may be missed. </a:t>
            </a:r>
            <a:endParaRPr sz="1800">
              <a:latin typeface="Times New Roman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r>
              <a:rPr lang="en-US" sz="1800">
                <a:latin typeface="Times New Roman"/>
                <a:ea typeface="+mn-lt"/>
                <a:cs typeface="Times New Roman"/>
              </a:rPr>
              <a:t>Lending decisions can be slow and inconsistent.</a:t>
            </a:r>
            <a:endParaRPr lang="en-US" sz="1800">
              <a:latin typeface="Times New Roman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endParaRPr sz="1800" dirty="0">
              <a:latin typeface="Times New Roman"/>
              <a:ea typeface="Calibri"/>
              <a:cs typeface="Times New Roman"/>
            </a:endParaRPr>
          </a:p>
          <a:p>
            <a:pPr marL="0" indent="0" algn="just">
              <a:buNone/>
              <a:defRPr sz="1800" b="1">
                <a:solidFill>
                  <a:srgbClr val="1E1E1E"/>
                </a:solidFill>
                <a:latin typeface="Calibri"/>
              </a:defRPr>
            </a:pPr>
            <a:r>
              <a:rPr sz="1800">
                <a:latin typeface="Times New Roman"/>
                <a:cs typeface="Times New Roman"/>
              </a:rPr>
              <a:t>Objectives</a:t>
            </a:r>
            <a:endParaRPr sz="1800" dirty="0">
              <a:latin typeface="Times New Roman"/>
              <a:ea typeface="Calibri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Build a single-agent </a:t>
            </a:r>
            <a:r>
              <a:rPr lang="en-US" sz="1800" dirty="0" err="1">
                <a:latin typeface="Times New Roman"/>
                <a:ea typeface="+mn-lt"/>
                <a:cs typeface="Times New Roman"/>
              </a:rPr>
              <a:t>LangGraph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 workflow for credit-risk assessment. </a:t>
            </a:r>
            <a:endParaRPr sz="1800" dirty="0">
              <a:latin typeface="Times New Roman"/>
              <a:ea typeface="Calibri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Train an </a:t>
            </a:r>
            <a:r>
              <a:rPr lang="en-US" sz="1800" dirty="0" err="1">
                <a:latin typeface="Times New Roman"/>
                <a:ea typeface="+mn-lt"/>
                <a:cs typeface="Times New Roman"/>
              </a:rPr>
              <a:t>XGBoost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 model for Probability of Default and risk grading. </a:t>
            </a:r>
            <a:endParaRPr sz="1800">
              <a:latin typeface="Times New Roman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r>
              <a:rPr lang="en-US" sz="1800">
                <a:latin typeface="Times New Roman"/>
                <a:ea typeface="+mn-lt"/>
                <a:cs typeface="Times New Roman"/>
              </a:rPr>
              <a:t>Integrate SHAP + LLM for explainable credit-risk assessment. </a:t>
            </a:r>
            <a:endParaRPr lang="en-US" sz="1800">
              <a:latin typeface="Times New Roman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endParaRPr sz="1800" dirty="0"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92260"/>
            <a:ext cx="8229600" cy="1143000"/>
          </a:xfrm>
        </p:spPr>
        <p:txBody>
          <a:bodyPr/>
          <a:lstStyle/>
          <a:p>
            <a:pPr>
              <a:defRPr sz="2800" b="1">
                <a:solidFill>
                  <a:srgbClr val="0F3769"/>
                </a:solidFill>
                <a:latin typeface="Calibri"/>
              </a:defRPr>
            </a:pPr>
            <a:r>
              <a:rPr>
                <a:latin typeface="Times New Roman"/>
                <a:cs typeface="Times New Roman"/>
              </a:rPr>
              <a:t>Project 2: Dataset, Technical Stack &amp;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5176" y="1344409"/>
            <a:ext cx="10711248" cy="452596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  <a:defRPr sz="1800" b="1">
                <a:solidFill>
                  <a:srgbClr val="1E1E1E"/>
                </a:solidFill>
                <a:latin typeface="Calibri"/>
              </a:defRPr>
            </a:pPr>
            <a:r>
              <a:rPr sz="1800">
                <a:latin typeface="Times New Roman"/>
                <a:cs typeface="Times New Roman"/>
              </a:rPr>
              <a:t>Dataset</a:t>
            </a:r>
            <a:endParaRPr lang="en-US" sz="1800">
              <a:latin typeface="Times New Roman"/>
              <a:ea typeface="Calibri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r>
              <a:rPr lang="en-US" sz="1800" b="1">
                <a:latin typeface="Times New Roman"/>
                <a:ea typeface="+mn-lt"/>
                <a:cs typeface="Times New Roman"/>
              </a:rPr>
              <a:t>German Credit Dataset</a:t>
            </a:r>
            <a:r>
              <a:rPr lang="en-US" sz="1800">
                <a:latin typeface="Times New Roman"/>
                <a:ea typeface="+mn-lt"/>
                <a:cs typeface="Times New Roman"/>
              </a:rPr>
              <a:t> as the primary dataset. </a:t>
            </a:r>
            <a:endParaRPr sz="1800" dirty="0">
              <a:latin typeface="Times New Roman"/>
              <a:ea typeface="Calibri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r>
              <a:rPr lang="en-US" sz="1800">
                <a:latin typeface="Times New Roman"/>
                <a:ea typeface="+mn-lt"/>
                <a:cs typeface="Times New Roman"/>
              </a:rPr>
              <a:t>Applicant financial and credit-history features. </a:t>
            </a:r>
            <a:endParaRPr lang="en-US" sz="1800">
              <a:latin typeface="Times New Roman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r>
              <a:rPr lang="en-US" sz="1800">
                <a:latin typeface="Times New Roman"/>
                <a:ea typeface="+mn-lt"/>
                <a:cs typeface="Times New Roman"/>
              </a:rPr>
              <a:t>Target: Credit-risk classification.</a:t>
            </a:r>
            <a:endParaRPr lang="en-US" sz="1800">
              <a:latin typeface="Times New Roman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endParaRPr lang="en-US" sz="1800" dirty="0">
              <a:latin typeface="Times New Roman"/>
              <a:ea typeface="+mn-lt"/>
              <a:cs typeface="Times New Roman"/>
            </a:endParaRPr>
          </a:p>
          <a:p>
            <a:pPr marL="0" indent="0" algn="just">
              <a:buNone/>
              <a:defRPr sz="1800" b="1">
                <a:solidFill>
                  <a:srgbClr val="1E1E1E"/>
                </a:solidFill>
                <a:latin typeface="Calibri"/>
              </a:defRPr>
            </a:pPr>
            <a:r>
              <a:rPr sz="1800">
                <a:latin typeface="Times New Roman"/>
                <a:cs typeface="Times New Roman"/>
              </a:rPr>
              <a:t>Technical Stack</a:t>
            </a:r>
            <a:endParaRPr sz="1800">
              <a:latin typeface="Times New Roman"/>
              <a:ea typeface="Calibri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Python, Scikit-learn, </a:t>
            </a:r>
            <a:r>
              <a:rPr lang="en-US" sz="1800" dirty="0" err="1">
                <a:latin typeface="Times New Roman"/>
                <a:ea typeface="+mn-lt"/>
                <a:cs typeface="Times New Roman"/>
              </a:rPr>
              <a:t>XGBoost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. </a:t>
            </a:r>
            <a:endParaRPr lang="en-US" sz="1800" dirty="0">
              <a:latin typeface="Times New Roman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r>
              <a:rPr lang="en-US" sz="1800" dirty="0" err="1">
                <a:latin typeface="Times New Roman"/>
                <a:ea typeface="+mn-lt"/>
                <a:cs typeface="Times New Roman"/>
              </a:rPr>
              <a:t>LangGraph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 + Gemini/</a:t>
            </a:r>
            <a:r>
              <a:rPr lang="en-US" sz="1800" dirty="0" err="1">
                <a:latin typeface="Times New Roman"/>
                <a:ea typeface="+mn-lt"/>
                <a:cs typeface="Times New Roman"/>
              </a:rPr>
              <a:t>Groq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 API + SHAP. </a:t>
            </a:r>
            <a:endParaRPr lang="en-US" sz="1800" dirty="0">
              <a:latin typeface="Times New Roman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r>
              <a:rPr lang="en-US" sz="1800" dirty="0" err="1">
                <a:latin typeface="Times New Roman"/>
                <a:ea typeface="+mn-lt"/>
                <a:cs typeface="Times New Roman"/>
              </a:rPr>
              <a:t>FastAPI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, </a:t>
            </a:r>
            <a:r>
              <a:rPr lang="en-US" sz="1800" dirty="0" err="1">
                <a:latin typeface="Times New Roman"/>
                <a:ea typeface="+mn-lt"/>
                <a:cs typeface="Times New Roman"/>
              </a:rPr>
              <a:t>Streamlit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, </a:t>
            </a:r>
            <a:r>
              <a:rPr lang="en-US" sz="1800" dirty="0" err="1">
                <a:latin typeface="Times New Roman"/>
                <a:ea typeface="+mn-lt"/>
                <a:cs typeface="Times New Roman"/>
              </a:rPr>
              <a:t>MLflow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 &amp; Docker.</a:t>
            </a:r>
            <a:endParaRPr lang="en-US" sz="1800" dirty="0">
              <a:latin typeface="Times New Roman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endParaRPr lang="en-US" sz="1800" dirty="0">
              <a:latin typeface="Times New Roman"/>
              <a:ea typeface="+mn-lt"/>
              <a:cs typeface="Times New Roman"/>
            </a:endParaRPr>
          </a:p>
          <a:p>
            <a:pPr marL="0" indent="0" algn="just">
              <a:buNone/>
              <a:defRPr sz="1800" b="1">
                <a:solidFill>
                  <a:srgbClr val="1E1E1E"/>
                </a:solidFill>
                <a:latin typeface="Calibri"/>
              </a:defRPr>
            </a:pPr>
            <a:r>
              <a:rPr sz="1800">
                <a:latin typeface="Times New Roman"/>
                <a:cs typeface="Times New Roman"/>
              </a:rPr>
              <a:t>Expected Outcomes</a:t>
            </a:r>
            <a:endParaRPr sz="1800">
              <a:latin typeface="Times New Roman"/>
              <a:ea typeface="Calibri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r>
              <a:rPr lang="en-US" sz="1800">
                <a:latin typeface="Times New Roman"/>
                <a:ea typeface="+mn-lt"/>
                <a:cs typeface="Times New Roman"/>
              </a:rPr>
              <a:t>Probability of Default and Risk Grade. </a:t>
            </a:r>
            <a:endParaRPr lang="en-US" sz="1800">
              <a:latin typeface="Times New Roman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r>
              <a:rPr lang="en-US" sz="1800">
                <a:latin typeface="Times New Roman"/>
                <a:ea typeface="+mn-lt"/>
                <a:cs typeface="Times New Roman"/>
              </a:rPr>
              <a:t>Key factors influencing the prediction. </a:t>
            </a:r>
            <a:endParaRPr lang="en-US" sz="1800">
              <a:latin typeface="Times New Roman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r>
              <a:rPr lang="en-US" sz="1800">
                <a:latin typeface="Times New Roman"/>
                <a:ea typeface="+mn-lt"/>
                <a:cs typeface="Times New Roman"/>
              </a:rPr>
              <a:t>Explainable credit-risk assessment.</a:t>
            </a:r>
            <a:endParaRPr lang="en-US" sz="1800">
              <a:latin typeface="Times New Roman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endParaRPr lang="en-US" sz="1800" dirty="0">
              <a:latin typeface="Times New Roman"/>
              <a:ea typeface="+mn-lt"/>
              <a:cs typeface="Times New Roman"/>
            </a:endParaRPr>
          </a:p>
          <a:p>
            <a:pPr algn="just">
              <a:defRPr sz="1800">
                <a:solidFill>
                  <a:srgbClr val="3C3C3C"/>
                </a:solidFill>
                <a:latin typeface="Calibri"/>
              </a:defRPr>
            </a:pPr>
            <a:endParaRPr sz="1800" dirty="0"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Project 1: LEX RAG AI–Based Legal Research Assistant</vt:lpstr>
      <vt:lpstr>Project 1: Dataset, Technical Stack &amp; Outcomes</vt:lpstr>
      <vt:lpstr>Project 2: Credit Agent – Agentic AI for Credit Risk Assessment</vt:lpstr>
      <vt:lpstr>Project 2: Dataset, Technical Stack &amp; Outcomes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192</cp:revision>
  <dcterms:created xsi:type="dcterms:W3CDTF">2013-01-27T09:14:16Z</dcterms:created>
  <dcterms:modified xsi:type="dcterms:W3CDTF">2026-08-27T17:55:25Z</dcterms:modified>
  <cp:category/>
</cp:coreProperties>
</file>