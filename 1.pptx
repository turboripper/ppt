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504" r:id="rId8"/>
    <p:sldId id="2147470498" r:id="rId9"/>
    <p:sldId id="2147470506" r:id="rId10"/>
    <p:sldId id="2147470497" r:id="rId11"/>
    <p:sldId id="2147470505" r:id="rId12"/>
    <p:sldId id="2147470499" r:id="rId13"/>
    <p:sldId id="2147470502" r:id="rId14"/>
    <p:sldId id="214747050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sz="3000" b="1">
                <a:latin typeface="Calibri"/>
              </a:rPr>
              <a:t>Review III</a:t>
            </a:r>
          </a:p>
          <a:p>
            <a:pPr algn="ctr">
              <a:spcAft>
                <a:spcPts val="1000"/>
              </a:spcAft>
            </a:pPr>
            <a:r>
              <a:rPr sz="2300" b="1">
                <a:latin typeface="Calibri"/>
              </a:rPr>
              <a:t>Authority-Aware and Evidence-Verified Retrieval-Augmented Generation for Reliable Legal Research over Indian Judicial Judgments</a:t>
            </a:r>
          </a:p>
          <a:p>
            <a:pPr algn="ctr">
              <a:spcAft>
                <a:spcPts val="1000"/>
              </a:spcAft>
            </a:pPr>
            <a:r>
              <a:rPr sz="2000" b="0">
                <a:latin typeface="Calibri"/>
              </a:rPr>
              <a:t>Tharuneesh G K</a:t>
            </a:r>
          </a:p>
          <a:p>
            <a:pPr algn="ctr">
              <a:spcAft>
                <a:spcPts val="1000"/>
              </a:spcAft>
            </a:pPr>
            <a:r>
              <a:rPr sz="2000" b="0">
                <a:latin typeface="Calibri"/>
              </a:rPr>
              <a:t>251011017</a:t>
            </a:r>
          </a:p>
          <a:p>
            <a:pPr algn="ctr">
              <a:spcAft>
                <a:spcPts val="1000"/>
              </a:spcAft>
            </a:pPr>
            <a:r>
              <a:rPr sz="2000" b="0">
                <a:latin typeface="Calibri"/>
              </a:rPr>
              <a:t>REC College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800">
                <a:solidFill>
                  <a:srgbClr val="232D37"/>
                </a:solidFill>
                <a:latin typeface="Calibri"/>
              </a:defRPr>
            </a:pPr>
            <a:r>
              <a:rPr dirty="0"/>
              <a:t>• Legal research is time-consuming because judicial judgments are lengthy and complex.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800">
                <a:solidFill>
                  <a:srgbClr val="232D37"/>
                </a:solidFill>
                <a:latin typeface="Calibri"/>
              </a:defRPr>
            </a:pPr>
            <a:r>
              <a:rPr dirty="0"/>
              <a:t>• Retrieval-Augmented legal research helps locate relevant evidence from large judgment collections.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800">
                <a:solidFill>
                  <a:srgbClr val="232D37"/>
                </a:solidFill>
                <a:latin typeface="Calibri"/>
              </a:defRPr>
            </a:pPr>
            <a:r>
              <a:rPr dirty="0"/>
              <a:t>• Relevance alone is not enough: legal evidence should also be traceable and checked against the source text.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800">
                <a:solidFill>
                  <a:srgbClr val="232D37"/>
                </a:solidFill>
                <a:latin typeface="Calibri"/>
              </a:defRPr>
            </a:pPr>
            <a:r>
              <a:rPr dirty="0"/>
              <a:t>• LEX-RAG combines evidence retrieval, authority-aware ranking and NLI-based statement verification for reliable Indian legal research.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000" b="1">
                <a:latin typeface="Calibri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57800"/>
            <a:ext cx="2106777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Judgments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6585" y="5257800"/>
            <a:ext cx="2106777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Retrieve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3091" y="5257800"/>
            <a:ext cx="2106777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Rank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89596" y="5257800"/>
            <a:ext cx="2106777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6102" y="5257800"/>
            <a:ext cx="2106777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Develop an AI-assisted legal research system for Indian judicial judgment text.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Retrieve relevant legal passages using lexical and research-mode semantic retrieval.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Improve evidence ordering using Reciprocal Rank Fusion, neural reranking and authority-aware scoring where valid court metadata exists.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Verify legal statements against retrieved evidence using Natural Language Inference (NLI).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Improve transparency through source traceability, evidence display and baseline-vs-proposed comparison.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000" b="1">
                <a:latin typeface="Calibri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Dataset Processing Module — load, clean and chunk Indian legal judgment text.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Hybrid Retrieval Module — BM25 + TF-IDF in basic mode; semantic retrieval is available in research mode.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Evidence Reranking Module — refine top candidates using the optional neural research models.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Authority-Aware Ranking Module — apply court-authority weighting only when explicit court metadata is available.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Evidence Extraction Module — return source sentences/passages with traceability.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Claim Verification Module — compare a supplied legal statement with retrieved evidence using NLI.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Evaluation &amp; Interface Module — compare methods and expose evidence, diagnostics and JSON export.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Indian legal judgments are long, making manual search and evidence checking slow.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Keyword-only retrieval can miss relevant passages expressed with different legal wording.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Pure relevance ranking does not automatically represent judicial authority.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A retrieved or generated legal statement may be unsupported unless it is checked against the original judgment evidence.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Therefore, the project focuses on traceable retrieval, authority-aware ranking and independent evidence verification.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Load the Indian legal dataset and preprocess the judgment Text field into searchable passages.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Run BM25 + TF-IDF retrieval in basic mode; research mode adds semantic retrieval.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Fuse candidate rankings with Reciprocal Rank Fusion (RRF) and optionally apply neural reranking.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Apply authority-aware scoring only when the document has explicit, validated court metadata.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Extract the strongest source evidence rather than presenting unsupported conversational legal advice.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For statement checking, retrieve claim-specific evidence and run window-based </a:t>
            </a:r>
            <a:r>
              <a:rPr dirty="0" err="1"/>
              <a:t>DeBERTa</a:t>
            </a:r>
            <a:r>
              <a:rPr dirty="0"/>
              <a:t> NLI verification.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3298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Retrieve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6516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RRF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89734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Rerank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72953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Authority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56171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39389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NLI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Dataset loading — download/cache the Indian legal CSV and use the judgment Text field as the retrieval corpus.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Text quality checks — inspect missing, very short, duplicated and noisy legal text.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Chunking — divide long judgment text into smaller retrievable passages while preserving source traceability.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Deduplication — avoid repeated text within a case/document where applicable.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EDA — inspect document/chunk counts and text-length distribution before indexing.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Metadata audit — identify whether court, title and decision-date fields are available before using authority or date filters.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00" b="1">
                <a:solidFill>
                  <a:srgbClr val="18324F"/>
                </a:solidFill>
                <a:latin typeface="Calibri"/>
              </a:defRPr>
            </a:pPr>
            <a: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3298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Retrieve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6516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RRF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89734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Rerank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72953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Authority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56171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39389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NLI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Basic retrieval: BM25 + TF-IDF with Reciprocal Rank Fusion (RRF).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Research retrieval: Sentence-Transformer semantic retrieval with neural reranking.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Authority-aware method: relevance ranking plus a court-authority bonus from explicit metadata.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Verification: token-bounded evidence windows + </a:t>
            </a:r>
            <a:r>
              <a:rPr dirty="0" err="1"/>
              <a:t>DeBERTa</a:t>
            </a:r>
            <a:r>
              <a:rPr dirty="0"/>
              <a:t>-based NLI (Entailment / Neutral / Contradiction).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Dataset: </a:t>
            </a:r>
            <a:r>
              <a:rPr dirty="0" err="1"/>
              <a:t>ninadn</a:t>
            </a:r>
            <a:r>
              <a:rPr dirty="0"/>
              <a:t>/</a:t>
            </a:r>
            <a:r>
              <a:rPr dirty="0" err="1"/>
              <a:t>indian</a:t>
            </a:r>
            <a:r>
              <a:rPr dirty="0"/>
              <a:t>-legal from Hugging Face; Text is used for retrieval and the downloaded CSV is cached locally.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Tools: Python, Flask, scikit-learn, Hugging Face Transformers, Sentence-Transformers and Git/GitHub.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00" b="1">
                <a:solidFill>
                  <a:srgbClr val="18324F"/>
                </a:solidFill>
                <a:latin typeface="Calibri"/>
              </a:defRPr>
            </a:pPr>
            <a:r>
              <a:t>LEX-RAG 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3298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Retrieve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6516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RRF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89734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Rerank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72953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Authority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56171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39389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NLI</a:t>
            </a:r>
          </a:p>
        </p:txBody>
      </p:sp>
      <p:pic>
        <p:nvPicPr>
          <p:cNvPr id="14" name="Picture 13" descr="wide_infographic_diagram_on_a_white_background_s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11384280" cy="4572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94360" y="5806440"/>
            <a:ext cx="10972800" cy="411480"/>
          </a:xfrm>
          <a:prstGeom prst="roundRect">
            <a:avLst/>
          </a:prstGeom>
          <a:solidFill>
            <a:srgbClr val="FFF8E6"/>
          </a:solidFill>
          <a:ln>
            <a:solidFill>
              <a:srgbClr val="C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D37"/>
                </a:solidFill>
              </a:defRPr>
            </a:pPr>
            <a:r>
              <a:t>Current prototype returns source-extracted evidence; NLI is a separate statement checker. Authority scoring requires validated court metadata.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Connected dataset: </a:t>
            </a:r>
            <a:r>
              <a:rPr dirty="0" err="1"/>
              <a:t>ninadn</a:t>
            </a:r>
            <a:r>
              <a:rPr dirty="0"/>
              <a:t>/</a:t>
            </a:r>
            <a:r>
              <a:rPr dirty="0" err="1"/>
              <a:t>indian</a:t>
            </a:r>
            <a:r>
              <a:rPr dirty="0"/>
              <a:t>-legal training CSV from Hugging Face, cached locally for repeatable/offline runs.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The judgment Text field is indexed; the reference Summary field is not used as retrieval evidence.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Basic mode implements BM25 + TF-IDF + RRF and returns source-extracted evidence with citations.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Research mode adds semantic retrieval, neural reranking and a separate NLI statement checker.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The review interface compares prefix-only verification, evidence windows and conditional re-search.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Baseline-vs-proposed evaluation and broader authority-metadata experiments remain ongoing.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00" b="1">
                <a:solidFill>
                  <a:srgbClr val="18324F"/>
                </a:solidFill>
                <a:latin typeface="Calibri"/>
              </a:defRPr>
            </a:pPr>
            <a:r>
              <a:t>Current Implementation Status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762524" cy="3895135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Literature Survey &amp; Research Gap — Completed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Dataset Connection &amp; Preprocessing — Completed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Basic BM25 + TF-IDF + RRF Retrieval — Completed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Research Semantic Retrieval &amp; Neural Reranking — Completed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NLI Statement Verification / Evidence Windows — Completed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Authority-Aware Metadata Experiments — In Progress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Baseline vs Proposed Evaluation — In Progress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Final Testing, Results &amp; Documentation — In Progress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00" b="1">
                <a:solidFill>
                  <a:srgbClr val="18324F"/>
                </a:solidFill>
                <a:latin typeface="Calibri"/>
              </a:defRPr>
            </a:pPr>
            <a: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3298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Retrieve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6516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RRF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89734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Rerank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72953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Authority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56171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39389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NLI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58061" y="5787996"/>
            <a:ext cx="1371600" cy="365760"/>
          </a:xfrm>
          <a:prstGeom prst="roundRect">
            <a:avLst/>
          </a:prstGeom>
          <a:solidFill>
            <a:srgbClr val="2D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90334" y="5787996"/>
            <a:ext cx="1371600" cy="365760"/>
          </a:xfrm>
          <a:prstGeom prst="roundRect">
            <a:avLst/>
          </a:prstGeom>
          <a:solidFill>
            <a:srgbClr val="CD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 PROGRESS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50">
                <a:solidFill>
                  <a:srgbClr val="232D37"/>
                </a:solidFill>
                <a:latin typeface="Calibri"/>
              </a:defRPr>
            </a:pPr>
            <a:r>
              <a:rPr dirty="0"/>
              <a:t>• LEX-RAG provides traceable legal research by connecting answers and statements to retrieved judicial evidence.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50">
                <a:solidFill>
                  <a:srgbClr val="232D37"/>
                </a:solidFill>
                <a:latin typeface="Calibri"/>
              </a:defRPr>
            </a:pPr>
            <a:r>
              <a:rPr dirty="0"/>
              <a:t>• The current prototype separates evidence retrieval from independent NLI verification to avoid overstating unsupported conclusions.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50">
                <a:solidFill>
                  <a:srgbClr val="232D37"/>
                </a:solidFill>
                <a:latin typeface="Calibri"/>
              </a:defRPr>
            </a:pPr>
            <a:r>
              <a:rPr dirty="0"/>
              <a:t>• Authority-aware ranking is applied only when reliable court metadata is available.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50">
                <a:solidFill>
                  <a:srgbClr val="232D37"/>
                </a:solidFill>
                <a:latin typeface="Calibri"/>
              </a:defRPr>
            </a:pPr>
            <a:r>
              <a:rPr dirty="0"/>
              <a:t>• The project is a legal research support system, not a substitute for professional legal interpretation.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50">
                <a:solidFill>
                  <a:srgbClr val="232D37"/>
                </a:solidFill>
                <a:latin typeface="Calibri"/>
              </a:defRPr>
            </a:pPr>
            <a:r>
              <a:rPr dirty="0"/>
              <a:t>• Next work focuses on larger evaluation sets, richer court metadata and quantitative baseline-vs-proposed analysis.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700"/>
              </a:spcAft>
              <a:buNone/>
              <a:defRPr sz="2000">
                <a:latin typeface="Calibri"/>
              </a:defRPr>
            </a:pPr>
            <a:r>
              <a:rPr dirty="0"/>
              <a:t>• I sincerely thank my project guide, faculty members and reviewers for their guidance and technical feedback.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  <a:defRPr sz="2000">
                <a:latin typeface="Calibri"/>
              </a:defRPr>
            </a:pPr>
            <a:r>
              <a:rPr dirty="0"/>
              <a:t>• I thank REC College and the </a:t>
            </a:r>
            <a:r>
              <a:rPr dirty="0" err="1"/>
              <a:t>M.Tech</a:t>
            </a:r>
            <a:r>
              <a:rPr dirty="0"/>
              <a:t> Advanced Industry Integrated Program for providing the academic environment for this project.</a:t>
            </a:r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  <a:defRPr sz="2000">
                <a:latin typeface="Calibri"/>
              </a:defRPr>
            </a:pPr>
            <a:r>
              <a:rPr dirty="0"/>
              <a:t>• I acknowledge the open-source research community and model/dataset providers used for retrieval, re-ranking and verification experiments.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350">
                <a:solidFill>
                  <a:srgbClr val="232D37"/>
                </a:solidFill>
                <a:latin typeface="Calibri"/>
              </a:defRPr>
            </a:pPr>
            <a:r>
              <a:rPr dirty="0"/>
              <a:t>• Lewis et al. (2020) — Retrieval-Augmented Generation for Knowledge-Intensive NLP Tasks.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350">
                <a:solidFill>
                  <a:srgbClr val="232D37"/>
                </a:solidFill>
                <a:latin typeface="Calibri"/>
              </a:defRPr>
            </a:pPr>
            <a:r>
              <a:rPr dirty="0"/>
              <a:t>• Reimers &amp; </a:t>
            </a:r>
            <a:r>
              <a:rPr dirty="0" err="1"/>
              <a:t>Gurevych</a:t>
            </a:r>
            <a:r>
              <a:rPr dirty="0"/>
              <a:t> (2019) — Sentence-BERT: Sentence Embeddings using Siamese BERT-Networks.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350">
                <a:solidFill>
                  <a:srgbClr val="232D37"/>
                </a:solidFill>
                <a:latin typeface="Calibri"/>
              </a:defRPr>
            </a:pPr>
            <a:r>
              <a:rPr dirty="0"/>
              <a:t>• Nogueira &amp; Cho (2019) — Passage Re-ranking with BERT.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350">
                <a:solidFill>
                  <a:srgbClr val="232D37"/>
                </a:solidFill>
                <a:latin typeface="Calibri"/>
              </a:defRPr>
            </a:pPr>
            <a:r>
              <a:rPr dirty="0"/>
              <a:t>• He et al. (2021) — </a:t>
            </a:r>
            <a:r>
              <a:rPr dirty="0" err="1"/>
              <a:t>DeBERTa</a:t>
            </a:r>
            <a:r>
              <a:rPr dirty="0"/>
              <a:t>: Decoding-enhanced BERT with Disentangled Attention.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350">
                <a:solidFill>
                  <a:srgbClr val="232D37"/>
                </a:solidFill>
                <a:latin typeface="Calibri"/>
              </a:defRPr>
            </a:pPr>
            <a:r>
              <a:rPr dirty="0"/>
              <a:t>• Robertson &amp; Zaragoza (2009) — The Probabilistic Relevance Framework: BM25 and Beyond.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350">
                <a:solidFill>
                  <a:srgbClr val="232D37"/>
                </a:solidFill>
                <a:latin typeface="Calibri"/>
              </a:defRPr>
            </a:pPr>
            <a:r>
              <a:rPr dirty="0"/>
              <a:t>• Malik et al. (2021) — ILDC for CJPE: Indian Legal Documents Corpus for Court Judgment Prediction and Explanation.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350">
                <a:solidFill>
                  <a:srgbClr val="232D37"/>
                </a:solidFill>
                <a:latin typeface="Calibri"/>
              </a:defRPr>
            </a:pPr>
            <a:r>
              <a:rPr dirty="0"/>
              <a:t>• Pipitone &amp; Alami (2024) — </a:t>
            </a:r>
            <a:r>
              <a:rPr dirty="0" err="1"/>
              <a:t>LegalBench</a:t>
            </a:r>
            <a:r>
              <a:rPr dirty="0"/>
              <a:t>-RAG: A Benchmark for Retrieval-Augmented Generation in the Legal Domain.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350">
                <a:solidFill>
                  <a:srgbClr val="232D37"/>
                </a:solidFill>
                <a:latin typeface="Calibri"/>
              </a:defRPr>
            </a:pPr>
            <a:r>
              <a:rPr dirty="0"/>
              <a:t>• Dataset — </a:t>
            </a:r>
            <a:r>
              <a:rPr dirty="0" err="1"/>
              <a:t>ninadn</a:t>
            </a:r>
            <a:r>
              <a:rPr dirty="0"/>
              <a:t>/</a:t>
            </a:r>
            <a:r>
              <a:rPr dirty="0" err="1"/>
              <a:t>indian</a:t>
            </a:r>
            <a:r>
              <a:rPr dirty="0"/>
              <a:t>-legal, Hugging Face.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1293</Words>
  <Application>Microsoft Office PowerPoint</Application>
  <PresentationFormat>Widescreen</PresentationFormat>
  <Paragraphs>145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Tharuneesh G K</cp:lastModifiedBy>
  <cp:revision>16</cp:revision>
  <dcterms:created xsi:type="dcterms:W3CDTF">2024-05-13T10:33:11Z</dcterms:created>
  <dcterms:modified xsi:type="dcterms:W3CDTF">2026-10-07T05:13:59Z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