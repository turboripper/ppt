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62185ec151c4610" /><Relationship Type="http://schemas.openxmlformats.org/package/2006/relationships/metadata/core-properties" Target="/docProps/core.xml" Id="Rec7296e2a019417b" /><Relationship Type="http://schemas.openxmlformats.org/officeDocument/2006/relationships/extended-properties" Target="/docProps/app.xml" Id="Rbf8ad6734b35421b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ef8aa26698c6442b"/>
  </p:sldMasterIdLst>
  <p:notesMasterIdLst>
    <p:notesMasterId r:id="Rf9b79d58a1f446f9"/>
  </p:notesMasterIdLst>
  <p:sldIdLst>
    <p:sldId id="256" r:id="R021b9f00d857494e"/>
    <p:sldId id="257" r:id="Rf574568270fc4b9c"/>
    <p:sldId id="258" r:id="R080290b6b46147ea"/>
    <p:sldId id="259" r:id="R335f42cad3664609"/>
    <p:sldId id="260" r:id="Raf79ac2783134e07"/>
    <p:sldId id="261" r:id="R59b7d4b0001e4007"/>
    <p:sldId id="262" r:id="Rf5e58d756c3d4a38"/>
    <p:sldId id="263" r:id="R1f9718db2ad84ad0"/>
    <p:sldId id="264" r:id="Rbfb9bf3bbd5b4cfe"/>
    <p:sldId id="265" r:id="Rf031565daad34449"/>
    <p:sldId id="266" r:id="R1824e7f229664814"/>
    <p:sldId id="267" r:id="Rf697d9ce56c942c6"/>
    <p:sldId id="268" r:id="R54836ada53c447d5"/>
    <p:sldId id="269" r:id="Re0419935ba384485"/>
    <p:sldId id="270" r:id="Rb294ab9f138d406d"/>
    <p:sldId id="271" r:id="Rafe2fa84555b4580"/>
    <p:sldId id="272" r:id="R1e348f715ba34b58"/>
    <p:sldId id="273" r:id="R2854d8853658496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6AE9A8-6298-4076-9231-B7FAEA5409DA}">
  <a:tblStyle styleId="{7A6AE9A8-6298-4076-9231-B7FAEA540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0C8B7E1-8674-4730-B2C8-AEA6B080A4A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9b79d58a1f446f9" /><Relationship Type="http://schemas.openxmlformats.org/officeDocument/2006/relationships/presProps" Target="/ppt/presProps.xml" Id="Ra7cf8b782dc14046" /><Relationship Type="http://schemas.openxmlformats.org/officeDocument/2006/relationships/viewProps" Target="/ppt/viewProps.xml" Id="R9735003f6cda48e2" /><Relationship Type="http://schemas.openxmlformats.org/officeDocument/2006/relationships/slideMaster" Target="/ppt/slideMasters/slideMaster1.xml" Id="Ref8aa26698c6442b" /><Relationship Type="http://schemas.openxmlformats.org/officeDocument/2006/relationships/theme" Target="/ppt/slideMasters/theme/theme2.xml" Id="R4765fcdb4c6949ef" /><Relationship Type="http://schemas.openxmlformats.org/officeDocument/2006/relationships/slide" Target="/ppt/slides/slide1.xml" Id="R021b9f00d857494e" /><Relationship Type="http://schemas.openxmlformats.org/officeDocument/2006/relationships/tableStyles" Target="/ppt/tableStyles.xml" Id="Rfd11884468a344ad" /><Relationship Type="http://schemas.openxmlformats.org/officeDocument/2006/relationships/slide" Target="/ppt/slides/slide2.xml" Id="Rf574568270fc4b9c" /><Relationship Type="http://schemas.openxmlformats.org/officeDocument/2006/relationships/slide" Target="/ppt/slides/slide3.xml" Id="R080290b6b46147ea" /><Relationship Type="http://schemas.openxmlformats.org/officeDocument/2006/relationships/slide" Target="/ppt/slides/slide4.xml" Id="R335f42cad3664609" /><Relationship Type="http://schemas.openxmlformats.org/officeDocument/2006/relationships/slide" Target="/ppt/slides/slide5.xml" Id="Raf79ac2783134e07" /><Relationship Type="http://schemas.openxmlformats.org/officeDocument/2006/relationships/slide" Target="/ppt/slides/slide6.xml" Id="R59b7d4b0001e4007" /><Relationship Type="http://schemas.openxmlformats.org/officeDocument/2006/relationships/slide" Target="/ppt/slides/slide7.xml" Id="Rf5e58d756c3d4a38" /><Relationship Type="http://schemas.openxmlformats.org/officeDocument/2006/relationships/slide" Target="/ppt/slides/slide8.xml" Id="R1f9718db2ad84ad0" /><Relationship Type="http://schemas.openxmlformats.org/officeDocument/2006/relationships/slide" Target="/ppt/slides/slide9.xml" Id="Rbfb9bf3bbd5b4cfe" /><Relationship Type="http://schemas.openxmlformats.org/officeDocument/2006/relationships/slide" Target="/ppt/slides/slide10.xml" Id="Rf031565daad34449" /><Relationship Type="http://schemas.openxmlformats.org/officeDocument/2006/relationships/slide" Target="/ppt/slides/slide11.xml" Id="R1824e7f229664814" /><Relationship Type="http://schemas.openxmlformats.org/officeDocument/2006/relationships/slide" Target="/ppt/slides/slide12.xml" Id="Rf697d9ce56c942c6" /><Relationship Type="http://schemas.openxmlformats.org/officeDocument/2006/relationships/slide" Target="/ppt/slides/slide13.xml" Id="R54836ada53c447d5" /><Relationship Type="http://schemas.openxmlformats.org/officeDocument/2006/relationships/slide" Target="/ppt/slides/slide14.xml" Id="Re0419935ba384485" /><Relationship Type="http://schemas.openxmlformats.org/officeDocument/2006/relationships/slide" Target="/ppt/slides/slide15.xml" Id="Rb294ab9f138d406d" /><Relationship Type="http://schemas.openxmlformats.org/officeDocument/2006/relationships/slide" Target="/ppt/slides/slide16.xml" Id="Rafe2fa84555b4580" /><Relationship Type="http://schemas.openxmlformats.org/officeDocument/2006/relationships/slide" Target="/ppt/slides/slide17.xml" Id="R1e348f715ba34b58" /><Relationship Type="http://schemas.openxmlformats.org/officeDocument/2006/relationships/slide" Target="/ppt/slides/slide18.xml" Id="R2854d8853658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6df593bf13ab487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Masters/theme/theme1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c0dd8fd5ab42a2" /><Relationship Type="http://schemas.openxmlformats.org/officeDocument/2006/relationships/notesMaster" Target="/ppt/notesMasters/notesMaster1.xml" Id="R29f3507cb82d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4683bcfb1441c0" /><Relationship Type="http://schemas.openxmlformats.org/officeDocument/2006/relationships/notesMaster" Target="/ppt/notesMasters/notesMaster1.xml" Id="R7bcc8093469549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1a57d9ec1643d5" /><Relationship Type="http://schemas.openxmlformats.org/officeDocument/2006/relationships/notesMaster" Target="/ppt/notesMasters/notesMaster1.xml" Id="Re1df68ef46ba48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6ff480bf824bed" /><Relationship Type="http://schemas.openxmlformats.org/officeDocument/2006/relationships/notesMaster" Target="/ppt/notesMasters/notesMaster1.xml" Id="Rad35dd6172284f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b783fb507e4ac8" /><Relationship Type="http://schemas.openxmlformats.org/officeDocument/2006/relationships/notesMaster" Target="/ppt/notesMasters/notesMaster1.xml" Id="R900422f130b941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2e72cb2fd14c9a" /><Relationship Type="http://schemas.openxmlformats.org/officeDocument/2006/relationships/notesMaster" Target="/ppt/notesMasters/notesMaster1.xml" Id="R2ba4263608ab47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601303efb049ea" /><Relationship Type="http://schemas.openxmlformats.org/officeDocument/2006/relationships/notesMaster" Target="/ppt/notesMasters/notesMaster1.xml" Id="R7258663d27524c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d9bde7354944e6" /><Relationship Type="http://schemas.openxmlformats.org/officeDocument/2006/relationships/notesMaster" Target="/ppt/notesMasters/notesMaster1.xml" Id="Rb9d0de8f6b7a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b7888b197945f5" /><Relationship Type="http://schemas.openxmlformats.org/officeDocument/2006/relationships/notesMaster" Target="/ppt/notesMasters/notesMaster1.xml" Id="R1561c9132d01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ea939a66f94155" /><Relationship Type="http://schemas.openxmlformats.org/officeDocument/2006/relationships/notesMaster" Target="/ppt/notesMasters/notesMaster1.xml" Id="Rca72b842cb434b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3bf84a0f1f43c9" /><Relationship Type="http://schemas.openxmlformats.org/officeDocument/2006/relationships/notesMaster" Target="/ppt/notesMasters/notesMaster1.xml" Id="Rfa9d45285d1148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13cb01c5f54e58" /><Relationship Type="http://schemas.openxmlformats.org/officeDocument/2006/relationships/notesMaster" Target="/ppt/notesMasters/notesMaster1.xml" Id="Rb746563dbe784e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7b2a32cf474588" /><Relationship Type="http://schemas.openxmlformats.org/officeDocument/2006/relationships/notesMaster" Target="/ppt/notesMasters/notesMaster1.xml" Id="Rcaab546c46f44a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f2ce767ff54d3e" /><Relationship Type="http://schemas.openxmlformats.org/officeDocument/2006/relationships/notesMaster" Target="/ppt/notesMasters/notesMaster1.xml" Id="R6d516db0639742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9466b4af8b42de" /><Relationship Type="http://schemas.openxmlformats.org/officeDocument/2006/relationships/notesMaster" Target="/ppt/notesMasters/notesMaster1.xml" Id="R628405d7404145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fbd3060d5c4785" /><Relationship Type="http://schemas.openxmlformats.org/officeDocument/2006/relationships/notesMaster" Target="/ppt/notesMasters/notesMaster1.xml" Id="R1be50ec7144e48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4cdd6736b144b7" /><Relationship Type="http://schemas.openxmlformats.org/officeDocument/2006/relationships/notesMaster" Target="/ppt/notesMasters/notesMaster1.xml" Id="Rf5af89faf4cc41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d6bf7609fd4e26" /><Relationship Type="http://schemas.openxmlformats.org/officeDocument/2006/relationships/notesMaster" Target="/ppt/notesMasters/notesMaster1.xml" Id="Rff13f56fed604b00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5358e20764244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449501549704177" /><Relationship Type="http://schemas.openxmlformats.org/officeDocument/2006/relationships/image" Target="/ppt/media/image2.png" Id="R665d8f93523449e1" /><Relationship Type="http://schemas.openxmlformats.org/officeDocument/2006/relationships/image" Target="/ppt/media/image.jpg" Id="Rc794194f884540a5" /><Relationship Type="http://schemas.openxmlformats.org/officeDocument/2006/relationships/theme" Target="/ppt/slideMasters/theme/theme2.xml" Id="Rfa0804e91037448d" /><Relationship Type="http://schemas.openxmlformats.org/officeDocument/2006/relationships/slideLayout" Target="/ppt/slideLayouts/slideLayout7.xml" Id="Rf4312248a8bb4bc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3449501549704177">
            <a:alphaModFix/>
          </a:blip>
          <a:srcRect/>
          <a:stretch/>
        </p:blipFill>
        <p:spPr>
          <a:xfrm>
            <a:off x="1" y="5215644"/>
            <a:ext cx="12191995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665d8f93523449e1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c794194f884540a5">
            <a:alphaModFix/>
          </a:blip>
          <a:srcRect/>
          <a:stretch/>
        </p:blipFill>
        <p:spPr>
          <a:xfrm>
            <a:off x="11233000" y="6472900"/>
            <a:ext cx="800375" cy="296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f4312248a8bb4bc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png" Id="Rfdd9b4f5ba894599" /><Relationship Type="http://schemas.openxmlformats.org/officeDocument/2006/relationships/image" Target="/ppt/media/image4.png" Id="R047fc234d50f402d" /><Relationship Type="http://schemas.openxmlformats.org/officeDocument/2006/relationships/notesSlide" Target="/ppt/notesSlides/notesSlide1.xml" Id="Rf8287b4dd18c4495" /><Relationship Type="http://schemas.openxmlformats.org/officeDocument/2006/relationships/slideLayout" Target="/ppt/slideLayouts/slideLayout7.xml" Id="R80cc440553c643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c258ddff69c44c13" /><Relationship Type="http://schemas.openxmlformats.org/officeDocument/2006/relationships/slideLayout" Target="/ppt/slideLayouts/slideLayout7.xml" Id="Rb15e78f9e62b42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023b8987c8d34be5" /><Relationship Type="http://schemas.openxmlformats.org/officeDocument/2006/relationships/slideLayout" Target="/ppt/slideLayouts/slideLayout7.xml" Id="R08ec3fc640cd4e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2f986d3f173e4574" /><Relationship Type="http://schemas.openxmlformats.org/officeDocument/2006/relationships/slideLayout" Target="/ppt/slideLayouts/slideLayout7.xml" Id="Rb6110bcd58594a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db4510db35ca4e3d" /><Relationship Type="http://schemas.openxmlformats.org/officeDocument/2006/relationships/slideLayout" Target="/ppt/slideLayouts/slideLayout7.xml" Id="R089888a761d847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c221f95064684d90" /><Relationship Type="http://schemas.openxmlformats.org/officeDocument/2006/relationships/slideLayout" Target="/ppt/slideLayouts/slideLayout7.xml" Id="Re18651021cdf46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d187690fdfe747ba" /><Relationship Type="http://schemas.openxmlformats.org/officeDocument/2006/relationships/slideLayout" Target="/ppt/slideLayouts/slideLayout7.xml" Id="Rc8d0d036545a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655f825e112e49a2" /><Relationship Type="http://schemas.openxmlformats.org/officeDocument/2006/relationships/slideLayout" Target="/ppt/slideLayouts/slideLayout7.xml" Id="Ra32a5cfbd37648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eff3b24d71554c78" /><Relationship Type="http://schemas.openxmlformats.org/officeDocument/2006/relationships/slideLayout" Target="/ppt/slideLayouts/slideLayout7.xml" Id="Red041be194124b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3.png" Id="R695f0733031746bd" /><Relationship Type="http://schemas.openxmlformats.org/officeDocument/2006/relationships/image" Target="/ppt/media/image4.png" Id="R72fedc67e1e045f6" /><Relationship Type="http://schemas.openxmlformats.org/officeDocument/2006/relationships/notesSlide" Target="/ppt/notesSlides/notesSlide10.xml" Id="R6f77c6e7c0774034" /><Relationship Type="http://schemas.openxmlformats.org/officeDocument/2006/relationships/slideLayout" Target="/ppt/slideLayouts/slideLayout7.xml" Id="Rca6a7484ca004f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notesSlide" Target="/ppt/notesSlides/notesSlide11.xml" Id="R3e2b136175a549ad" /><Relationship Type="http://schemas.openxmlformats.org/officeDocument/2006/relationships/slideLayout" Target="/ppt/slideLayouts/slideLayout7.xml" Id="R0bf2f1f58e584e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b866241308804cea" /><Relationship Type="http://schemas.openxmlformats.org/officeDocument/2006/relationships/slideLayout" Target="/ppt/slideLayouts/slideLayout7.xml" Id="R19de5b10fb3647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974f98ed814f432f" /><Relationship Type="http://schemas.openxmlformats.org/officeDocument/2006/relationships/slideLayout" Target="/ppt/slideLayouts/slideLayout7.xml" Id="R3e296e92ea0b4d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ea8e4978291c4225" /><Relationship Type="http://schemas.openxmlformats.org/officeDocument/2006/relationships/slideLayout" Target="/ppt/slideLayouts/slideLayout7.xml" Id="R3ddcc01b9af646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notesSlide" Target="/ppt/notesSlides/notesSlide15.xml" Id="R39dfba03f7ca4b73" /><Relationship Type="http://schemas.openxmlformats.org/officeDocument/2006/relationships/slideLayout" Target="/ppt/slideLayouts/slideLayout7.xml" Id="R9808bbd6736c47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f774ab2848384c88" /><Relationship Type="http://schemas.openxmlformats.org/officeDocument/2006/relationships/slideLayout" Target="/ppt/slideLayouts/slideLayout7.xml" Id="Rc6320ad0064646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notesSlide" Target="/ppt/notesSlides/notesSlide17.xml" Id="Rb82bd45bca2248f6" /><Relationship Type="http://schemas.openxmlformats.org/officeDocument/2006/relationships/slideLayout" Target="/ppt/slideLayouts/slideLayout7.xml" Id="R7b495ad9fb0f4a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39c1cea2f5544890" /><Relationship Type="http://schemas.openxmlformats.org/officeDocument/2006/relationships/slideLayout" Target="/ppt/slideLayouts/slideLayout7.xml" Id="R68c06205f64e4e97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Authority-Aware and Evidence-Verified Retrieval-Augmented Generation for Reliable Legal Research over Indian Judicial Judgments</a:t>
            </a: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T9969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THARUNEESH 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 K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(251011017)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fdd9b4f5ba894599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047fc234d50f402d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Legal research takes a lot of time because court judgments are long.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RAG helps users quickly find relevant information from judgments.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Normal RAG may sometimes generate incorrect or unsupported answers.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LEX-RAG improves reliability by retrieving and verifying legal evidence.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an AI-based legal research assistant for Indian court judgments.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Use BM25 and Dense Retrieval to find relevant legal information.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Apply Authority-Aware Ranking to prioritize reliable legal evidence.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 Claim-Level Evidence Verification framework using NLI.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Evaluate the system using Recall, Grounding Score and Supported Claim Rate.</a:t>
            </a:r>
            <a:endParaRPr lang="en-IN"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600" b="0" dirty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Focus on Indian judicial judgments for legal research.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Support question-based retrieval of relevant legal evidence.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Use authority-aware ranking to improve evidence quality.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Verify generated answers using claim-level NLI checking.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Evaluate retrieval accuracy, grounding and reliability of LEX-RAG.</a:t>
            </a: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>
            <p:extLst>
              <p:ext uri="{D42A27DB-BD31-4B8C-83A1-F6EECF244321}">
                <p14:modId xmlns:p14="http://schemas.microsoft.com/office/powerpoint/2010/main" val="1597679249"/>
              </p:ext>
            </p:extLst>
          </p:nvPr>
        </p:nvGraphicFramePr>
        <p:xfrm>
          <a:off x="408037" y="1149045"/>
          <a:ext cx="11016600" cy="553137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8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LegalBench</a:t>
                      </a: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-RAG: A Benchmark for Retrieval-Augmented Generation in the Legal Domain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Nicholas Pipitone, Ghita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Houir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Alami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arXiv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Evaluates legal RAG retrieval and emphasizes retrieving precise, relevant legal evidence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Hallucination-Free? Assessing the Reliability of Leading AI Legal Research Tools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Varun Magesh, Faiz Surani, Matthew Dahl, Mirac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Suzgun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Christopher D. Manning, Daniel E. Ho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arXiv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preprint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that even RAG-based legal AI can hallucinate, supporting the need for your evidence verification approach.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AILQA: Evaluating AI-driven Legal Question Answering Systems for the Indian Legal System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authors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 and Law – Springer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Directly relevant to Indian legal QA and evaluates RAG, embeddings and LLMs for Indian legal information.</a:t>
                      </a:r>
                      <a:endParaRPr sz="16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255996" y="986412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400" b="0" dirty="0">
                <a:latin typeface="Calibri"/>
                <a:ea typeface="Calibri"/>
                <a:cs typeface="Calibri"/>
                <a:sym typeface="Calibri"/>
              </a:rPr>
              <a:t>Existing studies show RAG improves legal information retrieval from large documents.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400" dirty="0">
                <a:latin typeface="Calibri"/>
                <a:ea typeface="Calibri"/>
                <a:cs typeface="Calibri"/>
                <a:sym typeface="Calibri"/>
              </a:rPr>
              <a:t>Research shows that legal AI can still generate hallucinated or unsupported answers.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400" b="0" dirty="0">
                <a:latin typeface="Calibri"/>
                <a:ea typeface="Calibri"/>
                <a:cs typeface="Calibri"/>
                <a:sym typeface="Calibri"/>
              </a:rPr>
              <a:t>Recent work applies RAG and LLMs to Indian legal question answering.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400" b="0" dirty="0">
                <a:latin typeface="Calibri"/>
                <a:ea typeface="Calibri"/>
                <a:cs typeface="Calibri"/>
                <a:sym typeface="Calibri"/>
              </a:rPr>
              <a:t>Existing systems have limited focus on combining legal authority with evidence verification.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400" b="0" dirty="0">
                <a:latin typeface="Calibri"/>
                <a:ea typeface="Calibri"/>
                <a:cs typeface="Calibri"/>
                <a:sym typeface="Calibri"/>
              </a:rPr>
              <a:t>LEX-RAG addresses this gap using Authority-Aware Ranking + Claim-Level NLI Verification.</a:t>
            </a:r>
            <a:endParaRPr sz="24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55996" y="1149045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Dataset: Open India Law – Hugging Face.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Data: Indian court judgments.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Retrieval: BM25 + Dense Retrieval.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Ranking: RRF + Authority-Aware Ranking.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Verification: Claim-level NLI checking.</a:t>
            </a:r>
            <a:endParaRPr sz="2600"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Dataset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Loads Indian court judgments.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Retrieval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BM25 + Dense Retrieval.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Ranking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RRF + Cross-Encoder ranking.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Authority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Ranks reliable legal evidence.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Generation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Generates legal answers using LLM.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Verification Module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– Verifies claims using NLI.</a:t>
            </a:r>
            <a:endParaRPr b="0" dirty="0"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Faster legal research from Indian judgments.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Accurate retrieval of relevant legal evidence.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Reliable answers with authority-aware ranking.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Reduced hallucinations through claim verification.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Improved grounding of AI-generated legal answers.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CreditAgent</a:t>
            </a: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AI: Agentic AI-Based Credit Risk Assessment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GB" sz="36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GB"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T9969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THARUNEESH 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 K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(251011017)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695f0733031746bd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72fedc67e1e045f6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helps banks identify whether a customer may repay a loan properly or become risky.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methods may depend on fixed rules, so this project uses Machine Learning to improve risk prediction.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compares Logistic Regression, Random Forest, and Gradient Boosting to select the best-performing model.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LangGraph</a:t>
            </a: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-based Agentic AI is used to coordinate different agents for validation, prediction, cost analysis, explanation, and final human-review recommendation.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081627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an Agentic AI-based Credit Risk Assessment System.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Compare Logistic Regression, Random Forest and Gradient Boosting for credit risk prediction.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Use Cross-Validation and Hyperparameter Tuning to select the best-performing model.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 </a:t>
            </a:r>
            <a:r>
              <a:rPr lang="en-IN" sz="2200" b="0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multi-agent framework for validation, risk prediction, cost analysis, explanation and decision support.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Evaluate the system using Accuracy, Precision, Recall, F1-Score and Cost-Sensitive Evaluation.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200" b="0" dirty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34468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Focus on credit risk assessment using the German Credit dataset.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Support customer-wise Good Credit and Bad Credit risk prediction.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Compare Logistic Regression, Random Forest and Gradient Boosting to select the best model.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Use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 multi-agent workflow for validation, prediction, cost analysis, explanation and decision support.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Evaluate the system using Accuracy, Precision, Recall, F1-Score and Cost-Sensitive Evaluation.</a:t>
            </a:r>
            <a:endParaRPr sz="22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>
            <p:extLst>
              <p:ext uri="{D42A27DB-BD31-4B8C-83A1-F6EECF244321}">
                <p14:modId xmlns:p14="http://schemas.microsoft.com/office/powerpoint/2010/main" val="3874421932"/>
              </p:ext>
            </p:extLst>
          </p:nvPr>
        </p:nvGraphicFramePr>
        <p:xfrm>
          <a:off x="408037" y="1149045"/>
          <a:ext cx="11016600" cy="448260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8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Machine Learning Models for Credit Scoring for Risk Forecasting in Big Financial Datasets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(IC3ECSBHI)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+ XAI credit scoring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Artificial Intelligence for Loan Approval and Credit Risk Assessment: A Comprehensive Review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ICPCSN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credit risk assessment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Demystifying Black-Box Credit Scoring Models Through Glass-Box Interpretability: A Random Forest and XAI Framework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ICCIST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+ German Credit + XAI</a:t>
                      </a:r>
                      <a:endParaRPr sz="16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255996" y="986412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Existing studies show Machine Learning can effectively predict credit risk using customer financial data.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Studies commonly compare Logistic Regression, Random Forest and boosting models for credit classification.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Recent research uses Explainable AI (XAI) to make credit-risk predictions more understandable.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Existing approaches have limited integration of cost-sensitive prediction and multi-agent decision support.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CreditAgent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 AI addresses this gap using model comparison, threshold optimization and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-based Agentic AI.</a:t>
            </a:r>
            <a:endParaRPr sz="22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55996" y="1149045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Dataset: German Credit Dataset – UCI.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Data: 1,000 customer credit records.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Models: Logistic Regression + Random Forest + Gradient Boosting.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Optimization: 5-Fold Cross-Validation + Hyperparameter Tuning + Threshold Optimization.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Agentic AI: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-based 6-Agent Workflow.</a:t>
            </a:r>
            <a:endParaRPr sz="2600"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Dataset Module – </a:t>
            </a:r>
            <a:r>
              <a:rPr lang="en-IN" sz="2200" b="0" dirty="0"/>
              <a:t>Loads and prepares the German Credit dataset.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Preprocessing Module – </a:t>
            </a:r>
            <a:r>
              <a:rPr lang="en-IN" sz="2200" b="0" dirty="0"/>
              <a:t>Handles categorical and numerical credit features.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Model Module – </a:t>
            </a:r>
            <a:r>
              <a:rPr lang="en-IN" sz="2200" b="0" dirty="0"/>
              <a:t>Compares Logistic Regression, Random Forest and Gradient Boosting.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Optimization Module – </a:t>
            </a:r>
            <a:r>
              <a:rPr lang="en-IN" sz="2200" b="0" dirty="0"/>
              <a:t>Uses Cross-Validation, Hyperparameter Tuning and Threshold Optimization.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Agentic AI Module – </a:t>
            </a:r>
            <a:r>
              <a:rPr lang="en-IN" sz="2200" b="0" dirty="0"/>
              <a:t>Uses </a:t>
            </a:r>
            <a:r>
              <a:rPr lang="en-IN" sz="2200" b="0" dirty="0" err="1"/>
              <a:t>LangGraph</a:t>
            </a:r>
            <a:r>
              <a:rPr lang="en-IN" sz="2200" b="0" dirty="0"/>
              <a:t> to coordinate the six credit-risk agents.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Decision Module – </a:t>
            </a:r>
            <a:r>
              <a:rPr lang="en-IN" sz="2200" b="0" dirty="0"/>
              <a:t>Provides risk prediction, explanation, cost analysis and human-review recommendation.</a:t>
            </a:r>
            <a:endParaRPr sz="2200" b="0" dirty="0"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Achieve reliable credit risk prediction using customer financial data.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Identify the best-performing ML model through model comparison.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Improve performance using Cross-Validation and Threshold Optimization.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Generate Good Credit / Bad Credit risk predictions with explanations.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Provide </a:t>
            </a:r>
            <a:r>
              <a:rPr lang="en-GB" sz="2600" dirty="0" err="1">
                <a:solidFill>
                  <a:srgbClr val="1C3898"/>
                </a:solidFill>
              </a:rPr>
              <a:t>LangGraph</a:t>
            </a:r>
            <a:r>
              <a:rPr lang="en-GB" sz="2600" dirty="0">
                <a:solidFill>
                  <a:srgbClr val="1C3898"/>
                </a:solidFill>
              </a:rPr>
              <a:t>-based Agentic AI decision support for human credit review.</a:t>
            </a:r>
            <a:endParaRPr sz="2600" dirty="0"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625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Tharuneesh G K</dc:creator>
  <lastModifiedBy>Tharuneesh G K</lastModifiedBy>
  <revision>2</revision>
  <dcterms:modified xsi:type="dcterms:W3CDTF">2026-09-10T17:08:15.1770000Z</dcterms:modified>
</coreProperties>
</file>